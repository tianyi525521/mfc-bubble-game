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093dd7e7724be3" /><Relationship Type="http://schemas.openxmlformats.org/officeDocument/2006/relationships/extended-properties" Target="/docProps/app.xml" Id="R7d1b465fa2cd49d5" /><Relationship Type="http://schemas.openxmlformats.org/officeDocument/2006/relationships/officeDocument" Target="/ppt/presentation.xml" Id="R09536ca9e2604c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4d4927cf4444a5"/>
  </p:sldMasterIdLst>
  <p:notesMasterIdLst>
    <p:notesMasterId xmlns:r="http://schemas.openxmlformats.org/officeDocument/2006/relationships" r:id="R3a9136347e494474"/>
  </p:notesMasterIdLst>
  <p:sldIdLst>
    <p:sldId xmlns:r="http://schemas.openxmlformats.org/officeDocument/2006/relationships" id="256" r:id="R3bbfb24785914695"/>
    <p:sldId xmlns:r="http://schemas.openxmlformats.org/officeDocument/2006/relationships" id="257" r:id="Rbbed2a32d82d492e"/>
    <p:sldId xmlns:r="http://schemas.openxmlformats.org/officeDocument/2006/relationships" id="258" r:id="Rb4cf05bb64b64b1d"/>
    <p:sldId xmlns:r="http://schemas.openxmlformats.org/officeDocument/2006/relationships" id="259" r:id="R320746ee80c4487b"/>
    <p:sldId xmlns:r="http://schemas.openxmlformats.org/officeDocument/2006/relationships" id="260" r:id="R9eee3a08ac1b4ede"/>
    <p:sldId xmlns:r="http://schemas.openxmlformats.org/officeDocument/2006/relationships" id="261" r:id="R4f7ffaa85dab48e1"/>
    <p:sldId xmlns:r="http://schemas.openxmlformats.org/officeDocument/2006/relationships" id="262" r:id="R1eb4d01f584d4c6d"/>
    <p:sldId xmlns:r="http://schemas.openxmlformats.org/officeDocument/2006/relationships" id="263" r:id="Rdffbe26a8b344d82"/>
    <p:sldId xmlns:r="http://schemas.openxmlformats.org/officeDocument/2006/relationships" id="264" r:id="R995f966754f1448d"/>
    <p:sldId xmlns:r="http://schemas.openxmlformats.org/officeDocument/2006/relationships" id="265" r:id="R1246e1594ab74283"/>
    <p:sldId xmlns:r="http://schemas.openxmlformats.org/officeDocument/2006/relationships" id="266" r:id="R4088af057f1e4758"/>
    <p:sldId xmlns:r="http://schemas.openxmlformats.org/officeDocument/2006/relationships" id="267" r:id="R7dac8e35948a4672"/>
    <p:sldId xmlns:r="http://schemas.openxmlformats.org/officeDocument/2006/relationships" id="268" r:id="R30477f19fb5c491c"/>
    <p:sldId xmlns:r="http://schemas.openxmlformats.org/officeDocument/2006/relationships" id="269" r:id="R62357cc30e8849f9"/>
    <p:sldId xmlns:r="http://schemas.openxmlformats.org/officeDocument/2006/relationships" id="270" r:id="R9c541bcb0d334c4a"/>
    <p:sldId xmlns:r="http://schemas.openxmlformats.org/officeDocument/2006/relationships" id="271" r:id="Rf580017dd2ed45c8"/>
    <p:sldId xmlns:r="http://schemas.openxmlformats.org/officeDocument/2006/relationships" id="272" r:id="R6209759a3d4c4ad2"/>
    <p:sldId xmlns:r="http://schemas.openxmlformats.org/officeDocument/2006/relationships" id="273" r:id="R43373aa845d744db"/>
    <p:sldId xmlns:r="http://schemas.openxmlformats.org/officeDocument/2006/relationships" id="274" r:id="R0aee7f3646c14db3"/>
    <p:sldId xmlns:r="http://schemas.openxmlformats.org/officeDocument/2006/relationships" id="275" r:id="R7a3f90b7bc454ed4"/>
    <p:sldId xmlns:r="http://schemas.openxmlformats.org/officeDocument/2006/relationships" id="276" r:id="Ra81e3083e55748a3"/>
    <p:sldId xmlns:r="http://schemas.openxmlformats.org/officeDocument/2006/relationships" id="277" r:id="Ra0a6aabadeb24e97"/>
    <p:sldId xmlns:r="http://schemas.openxmlformats.org/officeDocument/2006/relationships" id="278" r:id="R48e7ee86862c4b01"/>
    <p:sldId xmlns:r="http://schemas.openxmlformats.org/officeDocument/2006/relationships" id="279" r:id="R248bd175f5ed44d9"/>
    <p:sldId xmlns:r="http://schemas.openxmlformats.org/officeDocument/2006/relationships" id="280" r:id="Ra87e840e1bcd4860"/>
    <p:sldId xmlns:r="http://schemas.openxmlformats.org/officeDocument/2006/relationships" id="281" r:id="Rc22e150b0d024241"/>
    <p:sldId xmlns:r="http://schemas.openxmlformats.org/officeDocument/2006/relationships" id="282" r:id="R5b290c7beb5f4cba"/>
    <p:sldId xmlns:r="http://schemas.openxmlformats.org/officeDocument/2006/relationships" id="283" r:id="Rd47b140acb9d4572"/>
    <p:sldId xmlns:r="http://schemas.openxmlformats.org/officeDocument/2006/relationships" id="284" r:id="R40053a6b8b9f4f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3ae3ea6f8b41c1" /><Relationship Type="http://schemas.openxmlformats.org/officeDocument/2006/relationships/slideMaster" Target="/ppt/slideMasters/slideMaster1.xml" Id="R754d4927cf4444a5" /><Relationship Type="http://schemas.openxmlformats.org/officeDocument/2006/relationships/notesMaster" Target="/ppt/notesMasters/notesMaster1.xml" Id="R3a9136347e494474" /><Relationship Type="http://schemas.openxmlformats.org/officeDocument/2006/relationships/presProps" Target="/ppt/presProps.xml" Id="Re564e88273714383" /><Relationship Type="http://schemas.openxmlformats.org/officeDocument/2006/relationships/viewProps" Target="/ppt/viewProps.xml" Id="R2493e4cb74b1469a" /><Relationship Type="http://schemas.openxmlformats.org/officeDocument/2006/relationships/tableStyles" Target="/ppt/tableStyles.xml" Id="Rb1e0dad69c9f4c9e" /><Relationship Type="http://schemas.openxmlformats.org/officeDocument/2006/relationships/slide" Target="/ppt/slides/slide1.xml" Id="R3bbfb24785914695" /><Relationship Type="http://schemas.openxmlformats.org/officeDocument/2006/relationships/slide" Target="/ppt/slides/slide2.xml" Id="Rbbed2a32d82d492e" /><Relationship Type="http://schemas.openxmlformats.org/officeDocument/2006/relationships/slide" Target="/ppt/slides/slide3.xml" Id="Rb4cf05bb64b64b1d" /><Relationship Type="http://schemas.openxmlformats.org/officeDocument/2006/relationships/slide" Target="/ppt/slides/slide4.xml" Id="R320746ee80c4487b" /><Relationship Type="http://schemas.openxmlformats.org/officeDocument/2006/relationships/slide" Target="/ppt/slides/slide5.xml" Id="R9eee3a08ac1b4ede" /><Relationship Type="http://schemas.openxmlformats.org/officeDocument/2006/relationships/slide" Target="/ppt/slides/slide6.xml" Id="R4f7ffaa85dab48e1" /><Relationship Type="http://schemas.openxmlformats.org/officeDocument/2006/relationships/slide" Target="/ppt/slides/slide7.xml" Id="R1eb4d01f584d4c6d" /><Relationship Type="http://schemas.openxmlformats.org/officeDocument/2006/relationships/slide" Target="/ppt/slides/slide8.xml" Id="Rdffbe26a8b344d82" /><Relationship Type="http://schemas.openxmlformats.org/officeDocument/2006/relationships/slide" Target="/ppt/slides/slide9.xml" Id="R995f966754f1448d" /><Relationship Type="http://schemas.openxmlformats.org/officeDocument/2006/relationships/slide" Target="/ppt/slides/slide10.xml" Id="R1246e1594ab74283" /><Relationship Type="http://schemas.openxmlformats.org/officeDocument/2006/relationships/slide" Target="/ppt/slides/slide11.xml" Id="R4088af057f1e4758" /><Relationship Type="http://schemas.openxmlformats.org/officeDocument/2006/relationships/slide" Target="/ppt/slides/slide12.xml" Id="R7dac8e35948a4672" /><Relationship Type="http://schemas.openxmlformats.org/officeDocument/2006/relationships/slide" Target="/ppt/slides/slide13.xml" Id="R30477f19fb5c491c" /><Relationship Type="http://schemas.openxmlformats.org/officeDocument/2006/relationships/slide" Target="/ppt/slides/slide14.xml" Id="R62357cc30e8849f9" /><Relationship Type="http://schemas.openxmlformats.org/officeDocument/2006/relationships/slide" Target="/ppt/slides/slide15.xml" Id="R9c541bcb0d334c4a" /><Relationship Type="http://schemas.openxmlformats.org/officeDocument/2006/relationships/slide" Target="/ppt/slides/slide16.xml" Id="Rf580017dd2ed45c8" /><Relationship Type="http://schemas.openxmlformats.org/officeDocument/2006/relationships/slide" Target="/ppt/slides/slide17.xml" Id="R6209759a3d4c4ad2" /><Relationship Type="http://schemas.openxmlformats.org/officeDocument/2006/relationships/slide" Target="/ppt/slides/slide18.xml" Id="R43373aa845d744db" /><Relationship Type="http://schemas.openxmlformats.org/officeDocument/2006/relationships/slide" Target="/ppt/slides/slide19.xml" Id="R0aee7f3646c14db3" /><Relationship Type="http://schemas.openxmlformats.org/officeDocument/2006/relationships/slide" Target="/ppt/slides/slide20.xml" Id="R7a3f90b7bc454ed4" /><Relationship Type="http://schemas.openxmlformats.org/officeDocument/2006/relationships/slide" Target="/ppt/slides/slide21.xml" Id="Ra81e3083e55748a3" /><Relationship Type="http://schemas.openxmlformats.org/officeDocument/2006/relationships/slide" Target="/ppt/slides/slide22.xml" Id="Ra0a6aabadeb24e97" /><Relationship Type="http://schemas.openxmlformats.org/officeDocument/2006/relationships/slide" Target="/ppt/slides/slide23.xml" Id="R48e7ee86862c4b01" /><Relationship Type="http://schemas.openxmlformats.org/officeDocument/2006/relationships/slide" Target="/ppt/slides/slide24.xml" Id="R248bd175f5ed44d9" /><Relationship Type="http://schemas.openxmlformats.org/officeDocument/2006/relationships/slide" Target="/ppt/slides/slide25.xml" Id="Ra87e840e1bcd4860" /><Relationship Type="http://schemas.openxmlformats.org/officeDocument/2006/relationships/slide" Target="/ppt/slides/slide26.xml" Id="Rc22e150b0d024241" /><Relationship Type="http://schemas.openxmlformats.org/officeDocument/2006/relationships/slide" Target="/ppt/slides/slide27.xml" Id="R5b290c7beb5f4cba" /><Relationship Type="http://schemas.openxmlformats.org/officeDocument/2006/relationships/slide" Target="/ppt/slides/slide28.xml" Id="Rd47b140acb9d4572" /><Relationship Type="http://schemas.openxmlformats.org/officeDocument/2006/relationships/slide" Target="/ppt/slides/slide29.xml" Id="R40053a6b8b9f4f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c8d44d7af84f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fd8e5254d74abf" /><Relationship Type="http://schemas.openxmlformats.org/officeDocument/2006/relationships/notesMaster" Target="/ppt/notesMasters/notesMaster1.xml" Id="Ra79ffbab3a2a4f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5e32650b034a66" /><Relationship Type="http://schemas.openxmlformats.org/officeDocument/2006/relationships/notesMaster" Target="/ppt/notesMasters/notesMaster1.xml" Id="R5acf32eebbcf4e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bfd80e51df411e" /><Relationship Type="http://schemas.openxmlformats.org/officeDocument/2006/relationships/notesMaster" Target="/ppt/notesMasters/notesMaster1.xml" Id="Rdb0a00f83c1347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37f2f5a2084ead" /><Relationship Type="http://schemas.openxmlformats.org/officeDocument/2006/relationships/notesMaster" Target="/ppt/notesMasters/notesMaster1.xml" Id="Rb751a344618f45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90b4aa97f541cd" /><Relationship Type="http://schemas.openxmlformats.org/officeDocument/2006/relationships/notesMaster" Target="/ppt/notesMasters/notesMaster1.xml" Id="R82a2ab4825234c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6f66a495b94ea4" /><Relationship Type="http://schemas.openxmlformats.org/officeDocument/2006/relationships/notesMaster" Target="/ppt/notesMasters/notesMaster1.xml" Id="R3f38d4b6f1324e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48bc9504774bbb" /><Relationship Type="http://schemas.openxmlformats.org/officeDocument/2006/relationships/notesMaster" Target="/ppt/notesMasters/notesMaster1.xml" Id="R630b491cfd6442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73019acbed4622" /><Relationship Type="http://schemas.openxmlformats.org/officeDocument/2006/relationships/notesMaster" Target="/ppt/notesMasters/notesMaster1.xml" Id="R9e9e356423ee44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88e90393bd4abc" /><Relationship Type="http://schemas.openxmlformats.org/officeDocument/2006/relationships/notesMaster" Target="/ppt/notesMasters/notesMaster1.xml" Id="R52089cd8306b41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c29dc63a9440e8" /><Relationship Type="http://schemas.openxmlformats.org/officeDocument/2006/relationships/notesMaster" Target="/ppt/notesMasters/notesMaster1.xml" Id="Re7e6a7163f8749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f4e3155b2f4407" /><Relationship Type="http://schemas.openxmlformats.org/officeDocument/2006/relationships/notesMaster" Target="/ppt/notesMasters/notesMaster1.xml" Id="R321a6f9f63d84b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22b4b77e944deb" /><Relationship Type="http://schemas.openxmlformats.org/officeDocument/2006/relationships/notesMaster" Target="/ppt/notesMasters/notesMaster1.xml" Id="Rabf30748af0541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a99e7df30741e6" /><Relationship Type="http://schemas.openxmlformats.org/officeDocument/2006/relationships/notesMaster" Target="/ppt/notesMasters/notesMaster1.xml" Id="R8056132a4fe940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07a0a87c254674" /><Relationship Type="http://schemas.openxmlformats.org/officeDocument/2006/relationships/notesMaster" Target="/ppt/notesMasters/notesMaster1.xml" Id="Ra71a58fc742d41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18d7750dba4c9e" /><Relationship Type="http://schemas.openxmlformats.org/officeDocument/2006/relationships/notesMaster" Target="/ppt/notesMasters/notesMaster1.xml" Id="R648c5593d00445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6592d7d5174830" /><Relationship Type="http://schemas.openxmlformats.org/officeDocument/2006/relationships/notesMaster" Target="/ppt/notesMasters/notesMaster1.xml" Id="R9ce084b1612741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c01ebf9ac5e48db" /><Relationship Type="http://schemas.openxmlformats.org/officeDocument/2006/relationships/notesMaster" Target="/ppt/notesMasters/notesMaster1.xml" Id="Rf397f6af4635443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2cef80c63d419f" /><Relationship Type="http://schemas.openxmlformats.org/officeDocument/2006/relationships/notesMaster" Target="/ppt/notesMasters/notesMaster1.xml" Id="R62af5bb6a17b48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e4f21a9e56b4750" /><Relationship Type="http://schemas.openxmlformats.org/officeDocument/2006/relationships/notesMaster" Target="/ppt/notesMasters/notesMaster1.xml" Id="R2514fd48462646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946373a2fa42ca" /><Relationship Type="http://schemas.openxmlformats.org/officeDocument/2006/relationships/notesMaster" Target="/ppt/notesMasters/notesMaster1.xml" Id="R1352c8ec76e6493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4f902d98fa74372" /><Relationship Type="http://schemas.openxmlformats.org/officeDocument/2006/relationships/notesMaster" Target="/ppt/notesMasters/notesMaster1.xml" Id="R08a891f942284e1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1141116e0984124" /><Relationship Type="http://schemas.openxmlformats.org/officeDocument/2006/relationships/notesMaster" Target="/ppt/notesMasters/notesMaster1.xml" Id="R7f4d1efa12d145a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0c24724961a4a60" /><Relationship Type="http://schemas.openxmlformats.org/officeDocument/2006/relationships/notesMaster" Target="/ppt/notesMasters/notesMaster1.xml" Id="R242566fe4dd349b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9dbef820464aac" /><Relationship Type="http://schemas.openxmlformats.org/officeDocument/2006/relationships/notesMaster" Target="/ppt/notesMasters/notesMaster1.xml" Id="Re60ba9147b604cf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e7b8bd7ed5e4df6" /><Relationship Type="http://schemas.openxmlformats.org/officeDocument/2006/relationships/notesMaster" Target="/ppt/notesMasters/notesMaster1.xml" Id="R433a110bcf6949b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ced919034334dfb" /><Relationship Type="http://schemas.openxmlformats.org/officeDocument/2006/relationships/notesMaster" Target="/ppt/notesMasters/notesMaster1.xml" Id="R98376c6a673a4f1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0bb1038a4a04972" /><Relationship Type="http://schemas.openxmlformats.org/officeDocument/2006/relationships/notesMaster" Target="/ppt/notesMasters/notesMaster1.xml" Id="R38c5a9c180db472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ecd4b62b84e4118" /><Relationship Type="http://schemas.openxmlformats.org/officeDocument/2006/relationships/notesMaster" Target="/ppt/notesMasters/notesMaster1.xml" Id="Rb827279dc3814d7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2f2fe601bef4106" /><Relationship Type="http://schemas.openxmlformats.org/officeDocument/2006/relationships/notesMaster" Target="/ppt/notesMasters/notesMaster1.xml" Id="R137e038683714c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 20 秒。介绍项目名称、技术栈、四个角色和汇报结构。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20 秒说明汇报顺序和时间控制：成员 A 负责开场和演示，A-E 分别介绍自己的模块。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按文档内容介绍项目背景、技术栈和核心功能。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逐项说明主要功能，并提示每项对应的核心类或成员函数。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说明五人分工，先建立全局角色，再由每个人展开自己的难点和函数。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这一页只保留展示提示、四条现场步骤以及单人和双人模式截图。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 用时约 1.5 分钟，用 BFS 和整格移动解释地图与操作稳定性。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B 第 2 页，说明地图生成顺序和兜底策略。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B 的最后一页，对应原汇总页中的地图隔断和移动卡位问题。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B 第 4 页，说明地图和移动模块的验证结果。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 用时约 1.5 分钟，重点讲爆炸结算和容器删除问题。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C 第 2 页，说明炸弹放置条件和帧数引信。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C 的最后一页，对应原汇总页中的同时结算和容器删除问题。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C 第 4 页，说明爆炸和胜负系统的验证结果。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 用时约 1.5 分钟，讲敌人逃跑逻辑和双缓冲绘制。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D 第 2 页，说明随机移动和放弹冷却。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D 的最后一页，对应原汇总页中的敌人自爆和画面闪烁问题。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D 第 4 页，说明 AI 和绘制模块的验证结果。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 用时约 1.5 分钟，讲高 DPI、字体折算和鼠标坐标反算。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E 第 2 页，说明高 DPI 字体和鼠标坐标换算。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E 的最后一页，对应原汇总页中的高 DPI 和点击错位问题。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E 第 4 页，说明自适应和资源系统的验证结果。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由成员 A 主讲主框架与视图缓存，承接前四页的技术概述。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A 第 2 页，说明 GameState 和鼠标状态分发。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A 的最后一页，对应原汇总页中的视图状态丢失和资源冲突。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A 第 4 页，说明主框架和接口的验证结果。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总结算法、状态和绘制三个层面的技术亮点。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只从整体角度讲项目下一步如何改进和升级，不重复个人难题。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只做致谢并进入提问环节。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87b51677c46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61f72de2eb4454" /><Relationship Type="http://schemas.openxmlformats.org/officeDocument/2006/relationships/slideLayout" Target="/ppt/slideLayouts/slideLayout1.xml" Id="R1fa20ae879cb48b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a20ae879cb48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a9407e7bf43f1" /><Relationship Type="http://schemas.openxmlformats.org/officeDocument/2006/relationships/image" Target="/ppt/media/image.png" Id="R9d09b5d8523e4a8a" /><Relationship Type="http://schemas.openxmlformats.org/officeDocument/2006/relationships/image" Target="/ppt/media/image2.png" Id="R0c33a6cc5c6d42d5" /><Relationship Type="http://schemas.openxmlformats.org/officeDocument/2006/relationships/image" Target="/ppt/media/image3.png" Id="R5b3b319508744fdb" /><Relationship Type="http://schemas.openxmlformats.org/officeDocument/2006/relationships/image" Target="/ppt/media/image4.png" Id="R8af39071981f4006" /><Relationship Type="http://schemas.openxmlformats.org/officeDocument/2006/relationships/image" Target="/ppt/media/image5.png" Id="Rf163be1d05b84c0d" /><Relationship Type="http://schemas.openxmlformats.org/officeDocument/2006/relationships/notesSlide" Target="/ppt/notesSlides/notesSlide1.xml" Id="R6c2d60223ff34a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caefbbe814f42" /><Relationship Type="http://schemas.openxmlformats.org/officeDocument/2006/relationships/notesSlide" Target="/ppt/notesSlides/notesSlide2.xml" Id="R3d5172f072534d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7e1d2482e46c9" /><Relationship Type="http://schemas.openxmlformats.org/officeDocument/2006/relationships/image" Target="/ppt/media/image6.png" Id="R7149273efd6d47aa" /><Relationship Type="http://schemas.openxmlformats.org/officeDocument/2006/relationships/image" Target="/ppt/media/image7.png" Id="R7cde825ce08f4595" /><Relationship Type="http://schemas.openxmlformats.org/officeDocument/2006/relationships/image" Target="/ppt/media/image8.png" Id="R4e1010b8a2f3401f" /><Relationship Type="http://schemas.openxmlformats.org/officeDocument/2006/relationships/image" Target="/ppt/media/image2.png" Id="R45fdd217ae514f70" /><Relationship Type="http://schemas.openxmlformats.org/officeDocument/2006/relationships/image" Target="/ppt/media/image9.png" Id="R7bca74e72eb94081" /><Relationship Type="http://schemas.openxmlformats.org/officeDocument/2006/relationships/image" Target="/ppt/media/image3.png" Id="Rd8699d1cffe74323" /><Relationship Type="http://schemas.openxmlformats.org/officeDocument/2006/relationships/notesSlide" Target="/ppt/notesSlides/notesSlide3.xml" Id="Re68729a6f1d54d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3eefb30c64217" /><Relationship Type="http://schemas.openxmlformats.org/officeDocument/2006/relationships/notesSlide" Target="/ppt/notesSlides/notesSlide4.xml" Id="R77891bb0e3cc49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fc88db2c94138" /><Relationship Type="http://schemas.openxmlformats.org/officeDocument/2006/relationships/notesSlide" Target="/ppt/notesSlides/notesSlide5.xml" Id="R09b5d8dc5e694c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1c49d108d4d59" /><Relationship Type="http://schemas.openxmlformats.org/officeDocument/2006/relationships/image" Target="/ppt/media/image10.png" Id="R598dd453ce36478d" /><Relationship Type="http://schemas.openxmlformats.org/officeDocument/2006/relationships/image" Target="/ppt/media/image11.png" Id="R1807ff0b51254037" /><Relationship Type="http://schemas.openxmlformats.org/officeDocument/2006/relationships/notesSlide" Target="/ppt/notesSlides/notesSlide6.xml" Id="R5cc2abdc8ddb4b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6213ccbbd4cb0" /><Relationship Type="http://schemas.openxmlformats.org/officeDocument/2006/relationships/image" Target="/ppt/media/image12.png" Id="Ra30055aff5e64a3e" /><Relationship Type="http://schemas.openxmlformats.org/officeDocument/2006/relationships/notesSlide" Target="/ppt/notesSlides/notesSlide7.xml" Id="R7a62f02f3ad741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03231b26549a0" /><Relationship Type="http://schemas.openxmlformats.org/officeDocument/2006/relationships/image" Target="/ppt/media/image13.png" Id="R0b7ace85fa7f46c1" /><Relationship Type="http://schemas.openxmlformats.org/officeDocument/2006/relationships/notesSlide" Target="/ppt/notesSlides/notesSlide8.xml" Id="R2b3cf0df25684d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fe0d19a304195" /><Relationship Type="http://schemas.openxmlformats.org/officeDocument/2006/relationships/image" Target="/ppt/media/image14.png" Id="R8ed0c2dd53774a64" /><Relationship Type="http://schemas.openxmlformats.org/officeDocument/2006/relationships/notesSlide" Target="/ppt/notesSlides/notesSlide9.xml" Id="Rb35825fc76db48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d3074e5fe4b88" /><Relationship Type="http://schemas.openxmlformats.org/officeDocument/2006/relationships/image" Target="/ppt/media/image15.png" Id="R8721e997e6fe4cbb" /><Relationship Type="http://schemas.openxmlformats.org/officeDocument/2006/relationships/notesSlide" Target="/ppt/notesSlides/notesSlide10.xml" Id="Ra5d535500dc44b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202caba7f45be" /><Relationship Type="http://schemas.openxmlformats.org/officeDocument/2006/relationships/image" Target="/ppt/media/image16.png" Id="R3ab26698d7964726" /><Relationship Type="http://schemas.openxmlformats.org/officeDocument/2006/relationships/notesSlide" Target="/ppt/notesSlides/notesSlide11.xml" Id="R1f08dee188b44f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853a5057d4207" /><Relationship Type="http://schemas.openxmlformats.org/officeDocument/2006/relationships/image" Target="/ppt/media/image17.png" Id="R4a2639c95de54715" /><Relationship Type="http://schemas.openxmlformats.org/officeDocument/2006/relationships/notesSlide" Target="/ppt/notesSlides/notesSlide12.xml" Id="R97497eab589040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28b174cb04312" /><Relationship Type="http://schemas.openxmlformats.org/officeDocument/2006/relationships/image" Target="/ppt/media/image18.png" Id="R70e4cf1488f04499" /><Relationship Type="http://schemas.openxmlformats.org/officeDocument/2006/relationships/notesSlide" Target="/ppt/notesSlides/notesSlide13.xml" Id="R7b1b1bfb7bca43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490c524f146b1" /><Relationship Type="http://schemas.openxmlformats.org/officeDocument/2006/relationships/image" Target="/ppt/media/image19.png" Id="R891c317756ee4198" /><Relationship Type="http://schemas.openxmlformats.org/officeDocument/2006/relationships/notesSlide" Target="/ppt/notesSlides/notesSlide14.xml" Id="Rd8641a4cf4a045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2101085524b3d" /><Relationship Type="http://schemas.openxmlformats.org/officeDocument/2006/relationships/image" Target="/ppt/media/image20.png" Id="Rc9e722e18c12419f" /><Relationship Type="http://schemas.openxmlformats.org/officeDocument/2006/relationships/notesSlide" Target="/ppt/notesSlides/notesSlide15.xml" Id="R5745948a8bd148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2ba422a0d4162" /><Relationship Type="http://schemas.openxmlformats.org/officeDocument/2006/relationships/image" Target="/ppt/media/image21.png" Id="R4a7e4293c4d44639" /><Relationship Type="http://schemas.openxmlformats.org/officeDocument/2006/relationships/notesSlide" Target="/ppt/notesSlides/notesSlide16.xml" Id="Rdef174222a6b47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97ab73be34aa1" /><Relationship Type="http://schemas.openxmlformats.org/officeDocument/2006/relationships/image" Target="/ppt/media/image22.png" Id="Rfdbcc71e202941bb" /><Relationship Type="http://schemas.openxmlformats.org/officeDocument/2006/relationships/notesSlide" Target="/ppt/notesSlides/notesSlide17.xml" Id="R2dc3d9333b6740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d07896fc34d2b" /><Relationship Type="http://schemas.openxmlformats.org/officeDocument/2006/relationships/image" Target="/ppt/media/image23.png" Id="Rfdbc6bcabb9943f1" /><Relationship Type="http://schemas.openxmlformats.org/officeDocument/2006/relationships/notesSlide" Target="/ppt/notesSlides/notesSlide18.xml" Id="R8ee27cdcfa4642e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1796a63c64fcf" /><Relationship Type="http://schemas.openxmlformats.org/officeDocument/2006/relationships/image" Target="/ppt/media/image24.png" Id="Ra5c609bdfb064d8d" /><Relationship Type="http://schemas.openxmlformats.org/officeDocument/2006/relationships/notesSlide" Target="/ppt/notesSlides/notesSlide19.xml" Id="Ra3b4e85bde804f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d0b4acf5a4d6c" /><Relationship Type="http://schemas.openxmlformats.org/officeDocument/2006/relationships/image" Target="/ppt/media/image25.png" Id="R2e81bd627a354135" /><Relationship Type="http://schemas.openxmlformats.org/officeDocument/2006/relationships/notesSlide" Target="/ppt/notesSlides/notesSlide20.xml" Id="R8d51342afc4f4bc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059315f7d4f7a" /><Relationship Type="http://schemas.openxmlformats.org/officeDocument/2006/relationships/image" Target="/ppt/media/image26.png" Id="R952fa3225ff244d6" /><Relationship Type="http://schemas.openxmlformats.org/officeDocument/2006/relationships/notesSlide" Target="/ppt/notesSlides/notesSlide21.xml" Id="R47b0b288627946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3105745a94696" /><Relationship Type="http://schemas.openxmlformats.org/officeDocument/2006/relationships/image" Target="/ppt/media/image26.png" Id="R9e16721f2b8a4266" /><Relationship Type="http://schemas.openxmlformats.org/officeDocument/2006/relationships/notesSlide" Target="/ppt/notesSlides/notesSlide22.xml" Id="Rd9bf63ba73f54d7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f5ad3e243440e" /><Relationship Type="http://schemas.openxmlformats.org/officeDocument/2006/relationships/image" Target="/ppt/media/image27.png" Id="Ree3518c382114e16" /><Relationship Type="http://schemas.openxmlformats.org/officeDocument/2006/relationships/notesSlide" Target="/ppt/notesSlides/notesSlide23.xml" Id="Rb0c8e9461afe43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adad0d43d453c" /><Relationship Type="http://schemas.openxmlformats.org/officeDocument/2006/relationships/image" Target="/ppt/media/image28.png" Id="R0e4c56dc11e34e51" /><Relationship Type="http://schemas.openxmlformats.org/officeDocument/2006/relationships/notesSlide" Target="/ppt/notesSlides/notesSlide24.xml" Id="R29f674c83e1a470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60321d40f42ac" /><Relationship Type="http://schemas.openxmlformats.org/officeDocument/2006/relationships/image" Target="/ppt/media/image29.png" Id="R2f92a38e4b21401b" /><Relationship Type="http://schemas.openxmlformats.org/officeDocument/2006/relationships/notesSlide" Target="/ppt/notesSlides/notesSlide25.xml" Id="Redb029d51d654c2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7225eed724106" /><Relationship Type="http://schemas.openxmlformats.org/officeDocument/2006/relationships/image" Target="/ppt/media/image30.png" Id="R7fc8bafa32bb4750" /><Relationship Type="http://schemas.openxmlformats.org/officeDocument/2006/relationships/notesSlide" Target="/ppt/notesSlides/notesSlide26.xml" Id="R309d2a8027aa4cf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b1c8a2ba54aac" /><Relationship Type="http://schemas.openxmlformats.org/officeDocument/2006/relationships/notesSlide" Target="/ppt/notesSlides/notesSlide27.xml" Id="Rc6378a13a88d45d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5b93811dd4244" /><Relationship Type="http://schemas.openxmlformats.org/officeDocument/2006/relationships/notesSlide" Target="/ppt/notesSlides/notesSlide28.xml" Id="Ra566ad5a7d224a0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31c07d8e64f8c" /><Relationship Type="http://schemas.openxmlformats.org/officeDocument/2006/relationships/image" Target="/ppt/media/image.png" Id="R7640d8a7c4c140b7" /><Relationship Type="http://schemas.openxmlformats.org/officeDocument/2006/relationships/image" Target="/ppt/media/image2.png" Id="Rab9d47618f9b4a48" /><Relationship Type="http://schemas.openxmlformats.org/officeDocument/2006/relationships/image" Target="/ppt/media/image3.png" Id="R9f45480754d84f05" /><Relationship Type="http://schemas.openxmlformats.org/officeDocument/2006/relationships/image" Target="/ppt/media/image4.png" Id="R8018571f7eca4ed7" /><Relationship Type="http://schemas.openxmlformats.org/officeDocument/2006/relationships/image" Target="/ppt/media/image5.png" Id="R30d37a3e6b54422c" /><Relationship Type="http://schemas.openxmlformats.org/officeDocument/2006/relationships/notesSlide" Target="/ppt/notesSlides/notesSlide29.xml" Id="R9bc49d4764a044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9b5d8523e4a8a"/>
          <a:srcRect xmlns:a="http://schemas.openxmlformats.org/drawingml/2006/main" l="0" t="34180" r="0" b="34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4E1DE1-864E-483F-AE60-ABF639F4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10F7190-CFDD-48EE-9A40-584A700E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5875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E9194C7-4784-41A1-9CBA-8A6D1541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95875"/>
            <a:ext cx="2286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D9709B0-D3ED-4270-8E4D-3C2AA73E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4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78DD81-D294-474A-840C-35007434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基于 C++ / MFC 的课程设计答辩</a:t>
            </a:r>
            <a:endParaRPr sz="180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35A9C25E-6973-457E-958D-2317D74E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1295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1ECDC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62E3100-A234-40A7-B348-09D6BE60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C++ / MFC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1063E8CB-390D-430B-860B-54F2B0B1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814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D350F09-1EA1-4F46-BA40-CF46E7B1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814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rPr>
              <a:t>x64 / Unicode</a:t>
            </a:r>
            <a:endParaRPr sz="1050" b="1" i="0">
              <a:solidFill>
                <a:srgbClr val="3E6F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7EA44381-C41C-460E-AEA4-5C56937B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814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AD7"/>
          </a:solidFill>
          <a:ln xmlns:a="http://schemas.openxmlformats.org/drawingml/2006/main" w="0">
            <a:noFill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BC19525-C265-4827-92FC-A7E5FC97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814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B47A24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B47A24"/>
                </a:solidFill>
                <a:latin typeface="微软雅黑"/>
                <a:ea typeface="微软雅黑"/>
                <a:cs typeface="微软雅黑"/>
              </a:rPr>
              <a:t>单人 / 双人</a:t>
            </a:r>
            <a:endParaRPr sz="1050" b="1" i="0">
              <a:solidFill>
                <a:srgbClr val="B47A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B74A7FC-CD24-4F5E-A41D-12E8F8DC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软件简介 · 功能实现 · 现场演示 · 个人分工</a:t>
            </a:r>
            <a:endParaRPr sz="1350" b="0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2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3a6cc5c6d42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96250" y="2000250"/>
            <a:ext cx="1524000" cy="1524000"/>
          </a:xfrm>
          <a:prstGeom xmlns:a="http://schemas.openxmlformats.org/drawingml/2006/main" prst="rect">
            <a:avLst/>
          </a:prstGeom>
        </p:spPr>
      </p:pic>
      <p:pic>
        <p:nvPicPr>
          <p:cNvPr id="33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b319508744f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810750" y="1905000"/>
            <a:ext cx="1619250" cy="1619250"/>
          </a:xfrm>
          <a:prstGeom xmlns:a="http://schemas.openxmlformats.org/drawingml/2006/main" prst="rect">
            <a:avLst/>
          </a:prstGeom>
        </p:spPr>
      </p:pic>
      <p:pic>
        <p:nvPicPr>
          <p:cNvPr id="34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39071981f40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96250" y="3571875"/>
            <a:ext cx="1524000" cy="1524000"/>
          </a:xfrm>
          <a:prstGeom xmlns:a="http://schemas.openxmlformats.org/drawingml/2006/main" prst="rect">
            <a:avLst/>
          </a:prstGeom>
        </p:spPr>
      </p:pic>
      <p:pic>
        <p:nvPicPr>
          <p:cNvPr id="35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3be1d05b84c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810750" y="3476625"/>
            <a:ext cx="1619250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9822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18955AF1-AFAB-4F89-94A0-D734ABBD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1DA9542-2857-476D-85FA-5B162394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FEB5FC-EF3A-4D71-B095-648F9156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D55DEA8-EE7B-4A85-BE04-0A219C39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02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B1D9FB6-4BF1-4DF9-AE0C-3A88983C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汇报结构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55D01FC-BF84-4800-B8A6-5C726818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15-MINUTE DEFENSE PRESENTATION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DA4C291-B902-48AF-9D10-70C77C61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567370E-FC92-40F7-897C-6017F1B3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4E52DE-4E2E-43F1-9FA2-57787BA1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484FD9C-F511-4279-BEB0-929FD7C9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02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7CF42FCF-CABC-4765-BA6B-AB338A76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076450" cy="3333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E0087D5-C44C-438C-8A7E-A26A74F8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rPr>
              <a:t>01</a:t>
            </a:r>
            <a:endParaRPr sz="2100" b="1" i="0">
              <a:solidFill>
                <a:srgbClr val="55943A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DD4FD36-0BA9-4D76-A1DB-36CEE166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软件简介</a:t>
            </a:r>
            <a:endParaRPr sz="16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89CA330-0274-4CB9-8591-D1543AB4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733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背景、功能与技术栈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430D04A6-64BB-4428-AEA0-3E92339E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66875"/>
            <a:ext cx="2076450" cy="3333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10D3A53-7417-4AB2-9D5A-3383117F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669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rPr>
              <a:t>02</a:t>
            </a:r>
            <a:endParaRPr sz="2100" b="1" i="0">
              <a:solidFill>
                <a:srgbClr val="55943A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11CEC1E-1C3D-4178-B818-B9D6A289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24125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t>小组分工</a:t>
            </a:r>
            <a:endParaRPr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16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endParaRPr sz="16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47FE2A-70C6-4A9F-96FA-A053F14A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1733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18748802-2329-4900-8F1B-DD754407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66875"/>
            <a:ext cx="2076450" cy="3333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AF854C1-A463-4837-90EA-4AC147F7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669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rPr>
              <a:t>03</a:t>
            </a:r>
            <a:endParaRPr sz="2100" b="1" i="0">
              <a:solidFill>
                <a:srgbClr val="55943A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328FD25-E761-4C87-8578-E8CA32EF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24125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软件演示</a:t>
            </a:r>
            <a:endParaRPr sz="16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C8B005B-2E81-4AE6-886D-F08CB532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90875"/>
            <a:ext cx="1733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双人操作 + 单人 AI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DE4BF079-8CD2-4999-A1D6-A6C1AF56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66875"/>
            <a:ext cx="2076450" cy="3333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6E091A1-6F81-4312-8F4E-6449851D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669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rPr>
              <a:t>04</a:t>
            </a:r>
            <a:endParaRPr sz="2100" b="1" i="0">
              <a:solidFill>
                <a:srgbClr val="55943A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395C81A-87F2-44AF-976B-8E52E8D7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24125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t>成员模块</a:t>
            </a:r>
            <a:endParaRPr sz="16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B9B72F5-0198-455C-90F6-7F94C4FC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90875"/>
            <a:ext cx="1733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每位成员分别汇报</a:t>
            </a: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自己负责模块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15F008B8-7AC9-4A1D-A814-0C715490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66875"/>
            <a:ext cx="2076450" cy="3333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CF82620-1FA0-4B80-A4F0-B3A285A0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669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rPr>
              <a:t>05</a:t>
            </a:r>
            <a:endParaRPr sz="2100" b="1" i="0">
              <a:solidFill>
                <a:srgbClr val="55943A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A15F340-C1EB-4E2D-BEC9-63F273A6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24125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总结展望</a:t>
            </a:r>
            <a:endParaRPr sz="16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0AA00F6-533F-4EAE-AF6D-44FD91B3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90875"/>
            <a:ext cx="1733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技术亮点、不足与计划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747A747-6B4B-49E4-AEB8-47E4E615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740" y="3190875"/>
            <a:ext cx="1733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简单说明</a:t>
            </a: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组内分工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783818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E5739198-7E9B-4FAE-B311-485C89A2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D9D76CE-E567-4E00-9165-67948733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B28F4A-3F79-429E-B1DD-746BB853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974D9E3-8D9B-4FAE-AC80-ED17AD94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03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57970FD-AE92-4512-A25D-7AE03D7F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软件简介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6F72F81-E3A1-43FB-AFE2-0FA86A91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MFC DESKTOP GAME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1E4DF5C-5B8F-42D8-AEDD-8DE68C39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85A27B5-1417-476B-B7D7-09B1E077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53820DF-1772-4715-B697-3B2E01F3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4E03F3-D5B4-4AE3-89FA-71E0E160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03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BED2A92-D8FB-4672-B3B3-EEDBFB05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一款单机运行的泡泡堂对战游戏：</a:t>
            </a:r>
            <a:endParaRPr sz="150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150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支持同机双人，也支持单人对抗 3 个电脑敌人。</a:t>
            </a:r>
            <a:endParaRPr sz="150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84253251-CAEF-4740-986E-DBFBF1E5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600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B6A97C7-8C1A-4FAC-8FF2-6456EB61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rPr>
              <a:t>2</a:t>
            </a:r>
            <a:endParaRPr sz="2100" b="1" i="0">
              <a:solidFill>
                <a:srgbClr val="55943A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FD77F66-4687-490A-A10C-F5457F64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游戏模式</a:t>
            </a:r>
            <a:endParaRPr sz="105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0BFBC1AD-E156-4058-9193-FA54E5C2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1600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C559F92-1E2C-4FCA-ADA2-1BC7F055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5265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rPr>
              <a:t>12×12</a:t>
            </a:r>
            <a:endParaRPr sz="2100" b="1" i="0">
              <a:solidFill>
                <a:srgbClr val="55943A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9B18F6C-6908-40EA-BB57-79DF000A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随机地图</a:t>
            </a:r>
            <a:endParaRPr sz="105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BEE6FFBB-9F5F-4CAD-B06C-CD7BE522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47875"/>
            <a:ext cx="1600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58BA4B4-6A2F-4570-B5C7-7FE82E0A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rPr>
              <a:t>3</a:t>
            </a:r>
            <a:endParaRPr sz="2100" b="1" i="0">
              <a:solidFill>
                <a:srgbClr val="55943A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A902242-3457-4D9F-89D8-0E45C9A7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电脑敌人</a:t>
            </a:r>
            <a:endParaRPr sz="105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8000D20D-1E79-47F8-9A4F-CAB7F1E2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47875"/>
            <a:ext cx="1600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DF39987-6963-4D87-9E0A-2EAB074D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5265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rPr>
              <a:t>4</a:t>
            </a:r>
            <a:endParaRPr sz="2100" b="1" i="0">
              <a:solidFill>
                <a:srgbClr val="55943A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369D287-E83C-46B1-8706-094BE6FB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可选角色</a:t>
            </a:r>
            <a:endParaRPr sz="105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C2160EC7-D80B-4C03-8CD6-400B0A38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9532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D087140-1FBF-47EF-87A5-6CB591B3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1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项目概述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C0B7152-11EF-4C77-B87D-53057604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•</a:t>
            </a:r>
            <a:endParaRPr sz="1200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E74C940-78E1-4E76-BEB9-FBFCFDD3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主菜单、模式选择、角色选择、准备页和对战页形成完整操作链</a:t>
            </a:r>
            <a:endParaRPr sz="1125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8BD2D93-76C5-4A2B-810F-0E1FD25D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•</a:t>
            </a:r>
            <a:endParaRPr sz="1200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7A52929-F1C7-46B7-B036-211CA97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随机地图使用 BFS 检查出生点连通性，避免开局被钢块封死</a:t>
            </a:r>
            <a:endParaRPr sz="1125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0F37CFF-EB02-4F01-B511-CF2CB9CF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•</a:t>
            </a:r>
            <a:endParaRPr sz="1200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664AD1D8-8957-4E47-83F8-F2C7B825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8155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炸弹、十字爆炸、生命值和胜负结算形成完整战斗闭环</a:t>
            </a:r>
            <a:endParaRPr sz="1125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10E2FDC-1B2A-4DA8-AD78-CB8EF57B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•</a:t>
            </a:r>
            <a:endParaRPr sz="1200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2C69037-13CC-4BF2-9F1C-13F4F896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3875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窗口缩放与高 DPI 屏幕下使用设计坐标保持界面比例</a:t>
            </a:r>
            <a:endParaRPr sz="1125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F5EBBFBC-E78A-4670-8FBE-B60F03F4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38300"/>
            <a:ext cx="27241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6E9E4"/>
          </a:solidFill>
          <a:ln xmlns:a="http://schemas.openxmlformats.org/drawingml/2006/main" w="0">
            <a:noFill/>
          </a:ln>
        </p:spPr>
      </p:sp>
      <p:pic>
        <p:nvPicPr>
          <p:cNvPr id="87" name="图片 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9273efd6d47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1714500"/>
            <a:ext cx="2571750" cy="2571750"/>
          </a:xfrm>
          <a:prstGeom xmlns:a="http://schemas.openxmlformats.org/drawingml/2006/main" prst="rect">
            <a:avLst/>
          </a:prstGeom>
        </p:spPr>
      </p:pic>
      <p:pic>
        <p:nvPicPr>
          <p:cNvPr id="88" name="图片 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e825ce08f45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2400300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89" name="图片 7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e825ce08f45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125" y="1971675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90" name="图片 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010b8a2f340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1750" y="2657475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91" name="图片 8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e825ce08f45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3171825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92" name="图片 8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dd217ae514f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7288" y="2014538"/>
            <a:ext cx="364331" cy="364331"/>
          </a:xfrm>
          <a:prstGeom xmlns:a="http://schemas.openxmlformats.org/drawingml/2006/main" prst="rect">
            <a:avLst/>
          </a:prstGeom>
        </p:spPr>
      </p:pic>
      <p:pic>
        <p:nvPicPr>
          <p:cNvPr id="93" name="图片 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a74e72eb94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7475" y="3257550"/>
            <a:ext cx="364331" cy="364331"/>
          </a:xfrm>
          <a:prstGeom xmlns:a="http://schemas.openxmlformats.org/drawingml/2006/main" prst="rect">
            <a:avLst/>
          </a:prstGeom>
        </p:spPr>
      </p:pic>
      <p:pic>
        <p:nvPicPr>
          <p:cNvPr id="94" name="图片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99d1cffe743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1675" y="2828925"/>
            <a:ext cx="364331" cy="364331"/>
          </a:xfrm>
          <a:prstGeom xmlns:a="http://schemas.openxmlformats.org/drawingml/2006/main" prst="rect">
            <a:avLst/>
          </a:prstGeom>
        </p:spPr>
      </p:pic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5347FCC5-3A3A-48C2-84B7-16DD9FB5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38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地图与角色素材来自项目 res 资源</a:t>
            </a:r>
            <a:endParaRPr sz="97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970398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8E3D719-B24C-478F-8B80-B03FC9A3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ED2A60C-95E0-4D58-B52E-DA22B7F3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6E9E2AD-E087-4D46-9C35-E482EA3F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8AD2AF1-9585-4A8B-91E2-43EB0700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04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DF563A6-B58F-4BBF-AC3D-9AC3066D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主要功能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8994FB0-D198-4EFA-A1CB-4A31BDF6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FEATURE MAP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9C7D932-E10B-46C0-80A1-56CC47C3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513ABB2-5896-43CA-9E73-0F735490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1B2D7B7-719A-488E-BEF8-E1099002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54FF0C8-D587-4F9C-8AEF-4D49D96E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04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490F61F8-B921-4B3C-B80F-930936C7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4290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4A7786D-6D36-4AD9-8026-D569268E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CF1C09E-CAA4-4AC2-A7A5-0B67AB20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界面流程</a:t>
            </a:r>
            <a:endParaRPr sz="157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3D7B4D0-F152-41F5-9DE8-3E4AE232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主菜单、模式选择、角色选择、准备页四步切换。</a:t>
            </a:r>
            <a:endParaRPr sz="120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6D806D2D-9B57-4BF0-909E-E509F211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571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CEFEA"/>
          </a:solidFill>
          <a:ln xmlns:a="http://schemas.openxmlformats.org/drawingml/2006/main" w="0">
            <a:noFill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D7132EE-FFEC-4B6C-9894-BB459238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OnDraw / OnLButtonDown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F39CDC90-9878-4279-BE78-8A3616BD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04950"/>
            <a:ext cx="34290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DE2D72A-B609-482C-B04D-F24B9139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0495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A6"/>
          </a:solidFill>
          <a:ln xmlns:a="http://schemas.openxmlformats.org/drawingml/2006/main" w="0">
            <a:noFill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CD5E1A5-6981-4CD0-965E-AA4101F2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954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随机地图</a:t>
            </a:r>
            <a:endParaRPr sz="157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B92B7F9-4CF4-443A-A07B-806C2C40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12×12 网格，外圈钢块，内部随机砖块。</a:t>
            </a:r>
            <a:endParaRPr sz="120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E67F2B8F-C48D-42B1-ABC9-035C3E48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33700"/>
            <a:ext cx="2571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CEFEA"/>
          </a:solidFill>
          <a:ln xmlns:a="http://schemas.openxmlformats.org/drawingml/2006/main" w="0">
            <a:noFill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34DE339-6C0B-4C34-B436-C2547920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33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InitMap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841B23E6-27DD-4769-AF8F-B6A62229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04950"/>
            <a:ext cx="34290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94D2E56-870A-41E2-8228-9903A50A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0495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CD5C00C-1577-4B31-AEC8-72037065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炸弹系统</a:t>
            </a:r>
            <a:endParaRPr sz="157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601BD08-1858-4C8B-9DA2-D130D021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帧数计时，十字爆炸，砖块可破坏，钢块阻挡。</a:t>
            </a:r>
            <a:endParaRPr sz="120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FD39CF5-3851-47FA-96C1-DF045463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33700"/>
            <a:ext cx="2571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CEFEA"/>
          </a:solidFill>
          <a:ln xmlns:a="http://schemas.openxmlformats.org/drawingml/2006/main" w="0">
            <a:noFill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1053323-F60F-4956-BA04-128DBE64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33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PlaceBomb / ExplodeBomb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5F5D080B-8B29-4BAF-B0C3-7A8F9136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34290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BA6EA8F-0462-45AD-A8D1-46FB0079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A6"/>
          </a:solidFill>
          <a:ln xmlns:a="http://schemas.openxmlformats.org/drawingml/2006/main" w="0">
            <a:noFill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A94DABD-51FD-40D9-A910-D241C29A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胜负结算</a:t>
            </a:r>
            <a:endParaRPr sz="157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BD4D6D3-BAAE-4FEF-93B5-8FB84BA6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角色初始 3 条命，结算后返回主菜单。</a:t>
            </a:r>
            <a:endParaRPr sz="120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BCAA58E2-4C9D-4A01-AE9D-5B1A4E00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2571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CEFEA"/>
          </a:solidFill>
          <a:ln xmlns:a="http://schemas.openxmlformats.org/drawingml/2006/main" w="0">
            <a:noFill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1700CD5F-C04E-4F06-B966-7BEEF911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CheckPlayerHit / OnTimer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24836871-5F99-4070-8498-17561853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34290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B22C3B7-1ACA-407A-98C2-432D6F66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4D4E7F9-0067-4A19-ACEE-8DF1DD1F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624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角色选择</a:t>
            </a:r>
            <a:endParaRPr sz="157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0ACC7512-75D1-401C-9EF8-7E29C205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386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4 个角色可选，敌人自动避开玩家角色。</a:t>
            </a:r>
            <a:endParaRPr sz="120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5CA7BE43-3D5E-45EB-BF6A-ECF6B7C6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00650"/>
            <a:ext cx="2571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CEFEA"/>
          </a:solidFill>
          <a:ln xmlns:a="http://schemas.openxmlformats.org/drawingml/2006/main" w="0">
            <a:noFill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F8C3BF3-F7E8-488E-9B94-32D9E42E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00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DrawCharacterSelect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C4248DF6-5248-438B-8DBA-9936784D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71900"/>
            <a:ext cx="34290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137D75C-2845-4B61-9000-BCA0F6B1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719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A6"/>
          </a:solidFill>
          <a:ln xmlns:a="http://schemas.openxmlformats.org/drawingml/2006/main" w="0">
            <a:noFill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536CBB80-525E-41EA-BD88-21C4C448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624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自适应界面</a:t>
            </a:r>
            <a:endParaRPr sz="157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0315FE0-3708-4BD7-8507-C6BEABE9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386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设计坐标映射，按钮点击与绘制保持一致。</a:t>
            </a:r>
            <a:endParaRPr sz="120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8AD775A9-0FF7-44BA-8211-07B63986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2571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CEFEA"/>
          </a:solidFill>
          <a:ln xmlns:a="http://schemas.openxmlformats.org/drawingml/2006/main" w="0">
            <a:noFill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F403CD7B-8948-483A-8919-00CEDF1F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ClientPointToDesignPoint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234702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E7E8949D-C5AA-48FA-AC2A-CF571B0A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46349A9-27FB-48FD-B7B6-05696BA2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739885F-2893-42CB-9EC7-19B00230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228457B-30A0-41F6-8C54-5333D2FD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05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D6014FD-A502-43E2-BF6C-AB785FE8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主要功能与代码分工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5261E99-6012-4642-8D11-BE2DE908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CLASSES AND MEMBER FUNCTIONS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518FF9E-53F0-475D-82E3-899524D2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A6E311F-720C-451D-9F18-2E722BFF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442D312-BE4C-4D56-A4BF-A827DCDA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985E457-B6BA-4FA0-AB41-90E1F18B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05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79AE01E2-E814-4BC9-B6AE-9090D9F3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076450" cy="4095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18AE2EE-3F31-48FE-8758-E2453A63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07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67BA691-72D7-4966-BA24-5EC57FE6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defRPr>
            </a:pPr>
            <a:r>
              <a:rPr sz="240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rPr>
              <a:t>A</a:t>
            </a:r>
            <a:endParaRPr sz="2400" b="1" i="0">
              <a:solidFill>
                <a:srgbClr val="55943A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D088FD2-1AAE-4FC5-9E9C-00F2C781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界面与主框架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77D2EC3-E16F-4F2B-94DB-8E07B618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695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四个页面、鼠标流程、视图缓存、配置传递</a:t>
            </a:r>
            <a:endParaRPr sz="105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C759C3E-E908-49D2-AE47-AA8B888B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73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FAAE225-12FE-4037-B229-CE27D71D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关键函数</a:t>
            </a:r>
            <a:endParaRPr sz="90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458F2E0-593E-4AFB-A25D-8F1A46A0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25282C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25282C"/>
                </a:solidFill>
                <a:latin typeface="Cascadia Mono"/>
                <a:ea typeface="Cascadia Mono"/>
                <a:cs typeface="Cascadia Mono"/>
              </a:rPr>
              <a:t>CBubbleGameUIView / CMainFrame / GameConfig</a:t>
            </a:r>
            <a:endParaRPr sz="750" b="0" i="0">
              <a:solidFill>
                <a:srgbClr val="25282C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1F90A800-FA0D-4618-933E-2EACA2D1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28750"/>
            <a:ext cx="2076450" cy="4095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7DF4A6E-E23F-456E-A7F8-DF754744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28750"/>
            <a:ext cx="207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A6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A0D60E1-DB2D-4798-8EF1-4046D1E6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6687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3E6FA6"/>
                </a:solidFill>
                <a:latin typeface="Cascadia Mono"/>
                <a:ea typeface="Cascadia Mono"/>
                <a:cs typeface="Cascadia Mono"/>
              </a:defRPr>
            </a:pPr>
            <a:r>
              <a:rPr sz="2400" b="1" i="0">
                <a:solidFill>
                  <a:srgbClr val="3E6FA6"/>
                </a:solidFill>
                <a:latin typeface="Cascadia Mono"/>
                <a:ea typeface="Cascadia Mono"/>
                <a:cs typeface="Cascadia Mono"/>
              </a:rPr>
              <a:t>B</a:t>
            </a:r>
            <a:endParaRPr sz="2400" b="1" i="0">
              <a:solidFill>
                <a:srgbClr val="3E6FA6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E6B6066-8517-4FAC-BDEF-0F8B8F53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14575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地图与移动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5F02FF5-6A1D-4910-9662-69A124E6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76550"/>
            <a:ext cx="1695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随机地图、BFS 连通性、整格移动与碰撞</a:t>
            </a:r>
            <a:endParaRPr sz="105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F55E5C3-609A-4C77-B18D-61969767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71950"/>
            <a:ext cx="173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4B7C494-5D24-4DE3-9B3B-73CF2A19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148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关键函数</a:t>
            </a:r>
            <a:endParaRPr sz="90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D081BF6-1EF5-4208-98D8-4F39DA8E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5295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25282C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25282C"/>
                </a:solidFill>
                <a:latin typeface="Cascadia Mono"/>
                <a:ea typeface="Cascadia Mono"/>
                <a:cs typeface="Cascadia Mono"/>
              </a:rPr>
              <a:t>InitMap / IsMapConnected / TryMovePlayer / OnKeyDown</a:t>
            </a:r>
            <a:endParaRPr sz="750" b="0" i="0">
              <a:solidFill>
                <a:srgbClr val="25282C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03821556-C97D-427A-AF59-E1E57905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28750"/>
            <a:ext cx="2076450" cy="4095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E856148-14D8-4FCC-A8DD-86E2792C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28750"/>
            <a:ext cx="207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24"/>
          </a:solidFill>
          <a:ln xmlns:a="http://schemas.openxmlformats.org/drawingml/2006/main" w="0">
            <a:noFill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FAD5690-4D7F-4866-B2DF-A9C16412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6687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B47A24"/>
                </a:solidFill>
                <a:latin typeface="Cascadia Mono"/>
                <a:ea typeface="Cascadia Mono"/>
                <a:cs typeface="Cascadia Mono"/>
              </a:defRPr>
            </a:pPr>
            <a:r>
              <a:rPr sz="2400" b="1" i="0">
                <a:solidFill>
                  <a:srgbClr val="B47A24"/>
                </a:solidFill>
                <a:latin typeface="Cascadia Mono"/>
                <a:ea typeface="Cascadia Mono"/>
                <a:cs typeface="Cascadia Mono"/>
              </a:rPr>
              <a:t>C</a:t>
            </a:r>
            <a:endParaRPr sz="2400" b="1" i="0">
              <a:solidFill>
                <a:srgbClr val="B47A24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BC9030F-B94E-4F97-8654-45A86E8F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14575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战斗与结算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68FA006-5BA4-4953-A4D0-B1293063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76550"/>
            <a:ext cx="1695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炸弹、爆炸、伤害、胜负和主循环</a:t>
            </a:r>
            <a:endParaRPr sz="105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5BD9399-D925-4CE8-BE03-4B4D9ADB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71950"/>
            <a:ext cx="173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DDCBD7B-F0A8-4EB9-9426-E561785F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148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关键函数</a:t>
            </a:r>
            <a:endParaRPr sz="90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E587EDF-DC30-4C30-929E-2488C63F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5295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25282C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25282C"/>
                </a:solidFill>
                <a:latin typeface="Cascadia Mono"/>
                <a:ea typeface="Cascadia Mono"/>
                <a:cs typeface="Cascadia Mono"/>
              </a:rPr>
              <a:t>PlaceBomb / ExplodeBomb / CheckPlayerHit / OnTimer</a:t>
            </a:r>
            <a:endParaRPr sz="750" b="0" i="0">
              <a:solidFill>
                <a:srgbClr val="25282C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FE753121-9338-4C31-853F-45649AC0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428750"/>
            <a:ext cx="2076450" cy="4095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2F7DD2F-0DF7-4385-9EC9-9933EA32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428750"/>
            <a:ext cx="207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AA6"/>
          </a:solidFill>
          <a:ln xmlns:a="http://schemas.openxmlformats.org/drawingml/2006/main" w="0">
            <a:noFill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3CBCCBC-593B-4259-B741-53C38439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6687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7C5AA6"/>
                </a:solidFill>
                <a:latin typeface="Cascadia Mono"/>
                <a:ea typeface="Cascadia Mono"/>
                <a:cs typeface="Cascadia Mono"/>
              </a:defRPr>
            </a:pPr>
            <a:r>
              <a:rPr sz="2400" b="1" i="0">
                <a:solidFill>
                  <a:srgbClr val="7C5AA6"/>
                </a:solidFill>
                <a:latin typeface="Cascadia Mono"/>
                <a:ea typeface="Cascadia Mono"/>
                <a:cs typeface="Cascadia Mono"/>
              </a:rPr>
              <a:t>D</a:t>
            </a:r>
            <a:endParaRPr sz="2400" b="1" i="0">
              <a:solidFill>
                <a:srgbClr val="7C5AA6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5B0AF919-ABAB-432B-81F7-51F0E47F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14575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AI 与绘制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A9F893B-120F-4FD7-81C5-9EF4352C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76550"/>
            <a:ext cx="1695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敌人三段式行为、双缓冲和绘制顺序</a:t>
            </a:r>
            <a:endParaRPr sz="105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5B5D8AED-FE1D-41BE-B67D-C8F5A4C1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71950"/>
            <a:ext cx="173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FC5C425-1077-463D-8053-8CB08526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148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关键函数</a:t>
            </a:r>
            <a:endParaRPr sz="90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97C7A711-CD68-46CC-A459-BE614D8F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5295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25282C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25282C"/>
                </a:solidFill>
                <a:latin typeface="Cascadia Mono"/>
                <a:ea typeface="Cascadia Mono"/>
                <a:cs typeface="Cascadia Mono"/>
              </a:rPr>
              <a:t>UpdateEnemies / OnDraw / DrawEnemy / DrawTile</a:t>
            </a:r>
            <a:endParaRPr sz="750" b="0" i="0">
              <a:solidFill>
                <a:srgbClr val="25282C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E7098F11-E950-4CC8-9C80-DF994DA5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2076450" cy="4095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B89441F7-7513-471A-AD76-8B39A821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207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B78"/>
          </a:solidFill>
          <a:ln xmlns:a="http://schemas.openxmlformats.org/drawingml/2006/main" w="0">
            <a:noFill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B6C26410-46D9-41D1-96AF-91015047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6687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4B7B78"/>
                </a:solidFill>
                <a:latin typeface="Cascadia Mono"/>
                <a:ea typeface="Cascadia Mono"/>
                <a:cs typeface="Cascadia Mono"/>
              </a:defRPr>
            </a:pPr>
            <a:r>
              <a:rPr sz="2400" b="1" i="0">
                <a:solidFill>
                  <a:srgbClr val="4B7B78"/>
                </a:solidFill>
                <a:latin typeface="Cascadia Mono"/>
                <a:ea typeface="Cascadia Mono"/>
                <a:cs typeface="Cascadia Mono"/>
              </a:rPr>
              <a:t>E</a:t>
            </a:r>
            <a:endParaRPr sz="2400" b="1" i="0">
              <a:solidFill>
                <a:srgbClr val="4B7B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865B391-D4E1-4C1B-A400-37346001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14575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适配与工程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6023F34-1F77-4A1A-BF29-E0C3E523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76550"/>
            <a:ext cx="1695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高 DPI、资源系统、工程结构和编译配置</a:t>
            </a:r>
            <a:endParaRPr sz="105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150234F8-5D44-471C-94AD-8EF92F13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71950"/>
            <a:ext cx="173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90127093-CB18-48A4-B819-5C58270D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148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关键函数</a:t>
            </a:r>
            <a:endParaRPr sz="90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5A54416-9091-4B35-84E4-73397B43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5295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25282C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0" i="0">
                <a:solidFill>
                  <a:srgbClr val="25282C"/>
                </a:solidFill>
                <a:latin typeface="Cascadia Mono"/>
                <a:ea typeface="Cascadia Mono"/>
                <a:cs typeface="Cascadia Mono"/>
              </a:rPr>
              <a:t>CreateDesignFont / ClientPointToDesignPoint / Resource.h</a:t>
            </a:r>
            <a:endParaRPr sz="750" b="0" i="0">
              <a:solidFill>
                <a:srgbClr val="25282C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C97C1320-62A4-4D9A-9E99-E26FB777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操作流程：主菜单 -&gt; 模式选择 -&gt; 角色选择 -&gt; 准备开始 -&gt; 游戏对战 -&gt; 胜负结算 -&gt; 返回菜单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274490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09F8AB8-8904-4315-BAB8-220EFF6B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3156796-31B5-4227-868C-42CC3DB6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36D406A-DFE6-4E77-86D7-4ADE8A7D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8092BDC-E7C2-4502-B235-033EEDDB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06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319E2D1-C99E-41EA-87EB-242C12F8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展示游戏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6534A9D-C322-4FB0-9294-9E56EFEE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LIVE GAME DEMONSTRATION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334019B-AF6B-402E-874B-F0755352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2A46B68-1AB3-45F0-96F9-44BEDB27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A9E9992-1711-4710-BE98-B4B77582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3254CD0-162B-4AB1-8660-8AEB7523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06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28A0EBB-DA29-4734-AE55-CE7FF15A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现场演示步骤</a:t>
            </a:r>
            <a:endParaRPr sz="150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D658FC5F-A89B-4E83-A793-8889D564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85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817A17-466B-409A-970B-30A6FCEF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rPr>
              <a:t>01</a:t>
            </a:r>
            <a:endParaRPr sz="1350" b="1" i="0">
              <a:solidFill>
                <a:srgbClr val="55943A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684160-B96D-4442-A255-CB7DC0A1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主菜单与玩法说明</a:t>
            </a:r>
            <a:endParaRPr sz="12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56AEAFCE-B1A2-46B7-83AB-1BB834CC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85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DBF3F9A-25D3-4BD9-A470-959A5E90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rPr>
              <a:t>02</a:t>
            </a:r>
            <a:endParaRPr sz="1350" b="1" i="0">
              <a:solidFill>
                <a:srgbClr val="55943A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261471D-E9DC-4B93-A7BE-7CF19D0A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194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双人模式完整对局</a:t>
            </a:r>
            <a:endParaRPr sz="12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91DE1781-8953-4FDF-A30F-C1694461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85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D335F74-47E9-4EA6-B474-916586C2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rPr>
              <a:t>03</a:t>
            </a:r>
            <a:endParaRPr sz="1350" b="1" i="0">
              <a:solidFill>
                <a:srgbClr val="55943A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FC698C0-7609-4C6C-B6E1-0D4406DE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单人模式 AI 对战</a:t>
            </a:r>
            <a:endParaRPr sz="12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A8E9972E-DAE5-4B8B-9509-EF9DFE17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85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D0BD7D3-83F5-45D2-86FF-5C03F2A8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55943A"/>
                </a:solidFill>
                <a:latin typeface="Cascadia Mono"/>
                <a:ea typeface="Cascadia Mono"/>
                <a:cs typeface="Cascadia Mono"/>
              </a:rPr>
              <a:t>04</a:t>
            </a:r>
            <a:endParaRPr sz="1350" b="1" i="0">
              <a:solidFill>
                <a:srgbClr val="55943A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8881A4C-063C-4DC5-B545-7066E760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窗口缩放与操作验证</a:t>
            </a:r>
            <a:endParaRPr sz="12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4" name="图片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dd453ce3647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0" y="1602211"/>
            <a:ext cx="3619500" cy="3615478"/>
          </a:xfrm>
          <a:prstGeom xmlns:a="http://schemas.openxmlformats.org/drawingml/2006/main" prst="rect">
            <a:avLst/>
          </a:prstGeom>
        </p:spPr>
      </p:pic>
      <p:pic>
        <p:nvPicPr>
          <p:cNvPr id="55" name="图片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7ff0b512540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624330"/>
            <a:ext cx="3619500" cy="3571240"/>
          </a:xfrm>
          <a:prstGeom xmlns:a="http://schemas.openxmlformats.org/drawingml/2006/main" prst="rect">
            <a:avLst/>
          </a:prstGeom>
        </p:spPr>
      </p:pic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A7DF54A-910C-40DE-93A8-C2746B52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340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单人模式</a:t>
            </a:r>
            <a:endParaRPr sz="13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FB81DAB-F606-43DB-8CD6-0D11F459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双人模式</a:t>
            </a:r>
            <a:endParaRPr sz="13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929495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8AAA3FD-D8C3-4193-BEEF-42549726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1755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2C71BAE-D3D8-4CFD-B1E8-AB58C826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54F5B66-F49F-4315-B3D8-3533926D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66D5D76-9823-4B68-A422-A1FB51C0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07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8949079-7C0E-4724-8C2C-404E9E8A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B｜随机地图与 BFS 连通性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C6E616C-EA5A-4B98-BAB7-A8B4177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B · WORLD GENERATION AND MOVEMENT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F80571D-A0EC-4F98-ACF7-5BF57771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3112A2F-8E98-4F28-AC1D-F42D3BE7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739FDE0-5E42-40A1-9064-7EC1C135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128DA65-2269-4B90-86DC-E9C18F9F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07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02E3250-9280-47EC-8373-77A7F3DF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负责让每张地图都能走通，并让角色移动稳定可控。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EC017710-9643-457A-A6A8-958ACAB5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B0A7262-2BAE-4CBE-A7A4-3375DB4D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工作与实现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96D58BD-6D0C-46FD-AB58-9B759BA3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11670BE-DE5D-4423-874A-25AA021D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LoadBitmaps / InitMap / IsMapConnected / TryMovePlayer / OnKeyDown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ED13737-8CA7-4C6D-B250-FC4C3441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95E460A-27C4-4559-8DA0-E015D7DF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实现重点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A7DA1DC-6E36-4594-BABA-22B312C9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先布置钢块，再用 BFS 验证出生点连通，并统一整格移动规则。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822120A-AEFA-4649-9CFD-7C90FBDB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E724552-6C4B-43DB-89E1-775729F1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交付结果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767366F-AB07-490A-A605-A08D3EBD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BFS 检查四个出生点，不连通则重生成；移动改为整格并检查五项碰撞条件。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DB76A825-8E63-4CDD-AA17-23DD3F99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055aff5e64a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666875"/>
            <a:ext cx="6667500" cy="3667125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B120B23-5794-4B67-8297-ACA195D3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从出生点出发，检查四个出生区域是否连通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F82F02B-F325-4882-9417-CCBF82A6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BubbleBattleView.cpp:187-222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6664E59-7614-4732-A9A7-5133C12D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结果：地图可玩性稳定，移动与碰撞判断统一到格坐标。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076074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3EFDA79-F2D9-4357-8E53-97847463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1496A37-506D-434B-89F8-110F392A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521B0C2-CDB1-4945-ABA2-61B61397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C494D07-FDE3-4B56-A6DE-EE2C9DFC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</a:t>
            </a: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7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24B198C-1AD5-4340-AA2C-C2718814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B｜随机地图生成与兜底策略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0745C4-A6BC-444E-9FB8-DCDD8B0E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B · RANDOM MAP GENERATION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738C9AA-7258-4A93-AC64-F853A353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F6D890B-A86B-452E-9C05-942F9176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C27828A-E45C-4A6B-AC03-D9F5E7F6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924F6E4-CA76-497D-9991-9F7AEE31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08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CBAD23-BFF2-4941-AC7B-4C00D81A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先生成可通行的钢块布局，再添加可破坏的砖块。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09730F0-8BA3-4361-A017-2EE703FD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A7475A9-5960-4714-B98D-544E71B7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工作与实现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2A88540-D4E9-4BA1-A312-28109442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BBF0004-7E3C-4EB5-B31F-E0A17C6F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InitMap / IsMapConnected / ClearArea / MAX_ATTEMPTS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60DA00E-EF2B-4A71-96C8-E54ED464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D34B767-4EDB-44EA-A76B-0BE19A65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实现重点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345491A-34B5-40C0-9E98-1E8D375D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先放钢块并检查连通，再添加砖块，最后清空出生点周围。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9ECABC5-E24D-4D4D-90E5-4E850641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810A7A7-AA7A-4EF0-846A-044A7D1A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交付结果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8141861-2F63-4070-8F05-1BE5A87E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最多尝试 30 次；先放钢块，连通性通过后再放砖块，出生点周围清空。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C55DEA80-0491-4DB3-B790-BFF9AF3F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ace85fa7f46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666875"/>
            <a:ext cx="6667500" cy="3667125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032C299-77C1-4C98-B575-E93EEBF4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不连通就重生成，30 次后使用兜底地图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DC0C796-CB8C-47FD-9E05-EE4CCA84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BubbleBattleView.cpp:224-308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8FBC2FD-BC94-485E-B86C-CD941BAE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结果：任意随机结果都保留可通行路径。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449069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AC1892E-F54C-4538-A734-97D40795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DCA1789-30E3-4900-ABB0-1490AF39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397512F-B82B-4735-A44F-948A42AD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7668884-3E4D-492B-B4E4-1609F669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</a:t>
            </a: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7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65B426C-C596-4639-BCCA-E8E7D6FF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B｜个人难题：地图连通与移动卡位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FB45662-F14F-4A65-A1F0-22066DBE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B · PERSONAL PROBLEM SOLVING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8219E4A-F6F7-4C91-8552-F3F6A19A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F32A133-B1F0-4429-B2DC-DF6909B7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C135F7E-1570-4804-84CE-AE43EAE8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5496028-A288-41E7-A011-CD4F954A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09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BDFBB99-9EBC-42E6-8CC0-ADCBB985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重点解决了随机地图被钢块隔断和角色移动卡位。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722EA8BF-411A-4595-A6B8-6E932B96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FF19F10-B372-4616-8F48-FAB03844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个人难题与解决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BE47D49-6F79-4549-8D0F-FADE9EFC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F4E932C-E5E5-439C-9C13-30F2B01E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IsMapConnected / InitMap / TryMovePlayer / OnKeyDown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94D3677-505A-4B83-8457-D22C0469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F30687-C168-4ACD-A7C5-6BBB6D65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关键难点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AC040A5-EF24-40DD-BCD3-307DF42E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随机钢块可能隔断出生点；像素移动会卡在两格之间，甚至穿过障碍。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675D744-7C05-4E24-90CA-BE59ACA1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F46D80B-3FE7-4BA3-B950-EAC4E861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解决过程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2AF1252-2A87-4268-B109-321AB2AE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BFS 检查连通性，不连通就重生成；移动改为整格，并执行五项碰撞检查。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C324B7DC-320A-4324-B222-26372A47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0c2dd53774a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021086"/>
            <a:ext cx="6667500" cy="2958703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97EAA3E-1878-4160-A60B-D1F10C72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先检查格子，再更新角色坐标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1CC12D0-0185-457D-81EB-4192BC63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BubbleBattleView.cpp:720-768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87D6CB8-5226-402D-94CC-A60FE410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结果：每张地图都能走通，角色移动稳定且判定统一。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043025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9807DA8-E20B-42AF-8FAB-FFF76C1F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2724A86-9F12-4EC5-BCD5-2124700E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C4A639A-7093-4D14-BD47-461FAD99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7086B3C-08DD-470D-B233-90083587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</a:t>
            </a: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7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C9AE607-95FD-487B-8F93-6C06FB5E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B｜操作流程与交付验证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23D0CFA-0BDE-48E4-AB1B-1F9FC666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B · USER FLOW AND VERIFICATION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32A9656-9CB4-4EB3-ADE3-FC2D8BF9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8AA196A-BB98-40F9-8542-BD54149E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B7E68F1-8297-4A39-8E3A-FA3F8290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C4E5B16-50B4-4DC6-B68C-E3457C8C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10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7C8C22-5B23-465B-BDA6-D2BB6424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地图、出生点和移动逻辑都通过反复重置和边界测试。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04788CF9-22E9-4BF2-A72A-70E3D013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E5054F1-9A6B-47CA-9A85-28256CC6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工作与实现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3F7A5A1-C31C-4B2D-900B-DA58BE4C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6C27DA7-304F-4893-9D47-5AA5CA40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ResetGame / TryMovePlayer / OnKeyDown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A389C10-C3D8-4380-B3BF-B4C79056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FD3209E-7929-496E-B5C4-CDC04E09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实现重点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AC045FC-D184-469F-82ED-D06CA801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负责按键映射和游戏内移动：方向键 / Enter，W / A / S / D / 空格。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FF9A663-B783-406C-9907-8B1F1BC0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CD5D2B-5197-4A80-B5BC-6736D5C1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交付结果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B847AE9-4CC1-44ED-8AFE-18BDB4E3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地图和移动模块均可复现，操作流程完整，键盘输入响应稳定。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E6E179D6-A845-4DC9-91C6-C80FA0C2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1e997e6fe4c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843980"/>
            <a:ext cx="6667500" cy="3312914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9D7A1D8-4464-4975-8761-B8156E56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重置游戏并验证整格坐标更新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1BDBECB-131C-4F7D-A364-FB911395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BubbleBattleView.cpp:150-169 / 720-768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2C77014-FCFD-4ED8-98C3-EBE737CE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结果：游戏可以稳定重置，每局地图和出生位置都能正确初始化。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190681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2CF1B48-C634-4A2D-BD28-05242E7C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88C7832-8BB8-4108-B0BA-1A0F7483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D06DAAA-717F-4565-A0BE-3D4B0240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99620CC-E87C-479C-B82C-F258F2F8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08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A96588-D085-4B57-A970-32CBC24C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C｜十字爆炸与伤害结算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31EB338-D4CF-4E30-8319-90129ABF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C · EXPLOSION AND DAMAGE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D1213AB-CEEA-43ED-BFD1-1FC1D700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45E14B-DCD9-445E-A727-3B63E950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7AC9496-51D2-49E8-BFBA-283DA05B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EAF9BC8-2E9B-48B8-9D78-E87CBED5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11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4560291-B148-4DEA-8FE3-9668E8DB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负责保证战斗规则正确，并且一局游戏只有一个确定结果。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8A87BE3A-0442-46FA-BDD6-97BB0B90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2D73907-D8FA-4E0C-B2F7-C1A46E00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工作与实现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7323E9E-E42E-4950-8B0C-D7C35E22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3ECDD9A-CEEB-4624-9A7A-B0564473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PlaceBomb / ExplodeBomb / CheckPlayerHit / CheckEnemyHit / OnTimer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AC831B8-D0F9-4C08-9C7F-425BA44E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07B04FA-2F3B-4B54-9E60-35D45D8C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实现重点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C6A83C4-0A7C-45BD-BD07-DF339132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十字方向传播火焰，砖块可破坏，钢块阻挡，命中后立即结算。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8805D39-09CB-4DEC-92D2-53E1B436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D6B7ACB-4FC6-4CD8-AEB0-BE5DBA80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交付结果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4380EA7-4FAD-41E8-8B7F-DBE9A614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每生成一格火焰就立即结算，确定胜负后返回；删除元素后回退遍历下标。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9F1C84D0-E362-4D8B-9D3C-ABDCE024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26698d79647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843980"/>
            <a:ext cx="6667500" cy="3312914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6B416D2-BF9B-4A6B-9539-A54D761B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中心爆炸 + 四方向火焰；钢块阻挡，砖块清除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11E938C-27DD-4E16-A018-EC1F0ECD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BubbleBattleView.cpp:530-585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24C626E-A92B-48F2-9C4E-91E47787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结果：伤害、砖块破坏和胜负判断顺序确定。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154819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89F886C-118B-420C-9BAA-0B73F146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08F923C-A0F5-417A-B5AB-7A59F230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D7BDA44-44C7-4F2D-B112-C3E6A218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B5F7C13-15BE-4505-AB35-E2B8E0FB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08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743EE43-FD45-49E9-B80B-D5A6FEEE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C｜炸弹放置与引信计时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CB67A15-C85A-4DEA-9B7A-B4E70F19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C · BOMB LIFECYCLE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3F88508-DCE8-4356-8C8C-71A56CDF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67E959D-1600-43CC-A7CB-94C6A569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2BB327E-FFB3-45CD-9D8F-BDACD5A9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985B351-74A8-4DDF-9FFE-B32E175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12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275106A-7261-4350-B565-AC17220F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炸弹放置必须检查位置、重复和引信长度。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3C81DE20-EC09-4FE2-8650-7EACF866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DC0BA43-73DE-4E3B-BA59-41EFD670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工作与实现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ACF453-299B-4FD3-919B-6EE2002C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8745A47-71B6-4232-AC07-447CFC3D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PlaceBomb / 引信帧计时（90 帧或 60 帧）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E9ACCF7-86A9-4045-8C89-3A2E41CA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A8F99C2-160F-4281-84E6-9E6BD3E0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实现重点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153AE68-F3D1-4081-B5DA-C54EF00D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先检查边界、空地和重复炸弹，再按模式设置引信帧数。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74FCCB9-5C03-4A72-90E6-187EB14A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CA60B03-B8A2-48A9-9FB3-814D8CDB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交付结果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553103B-0ACB-4141-BF3F-6A5D5617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先检查边界、空地和已有炸弹；按模式设置 90 或 60 帧引信，再加入容器。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FE44FDB8-1C6C-4DFA-9DB7-41DEB273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639c95de54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109639"/>
            <a:ext cx="6667500" cy="2781598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9989FFE-F214-43EC-8E82-8419C417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炸弹创建和引信初始化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9D750C8-6C7F-4CA3-8F62-011C9CE3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BubbleBattleView.cpp:430-448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994680F-2395-406B-953D-C1BCC98D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结果：炸弹数量和生命周期由容器统一管理。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7427511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8A5A5EC-99AD-4BD9-8661-38CB3FCD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DE56F-A9F9-4E57-A1EF-071B5668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488EBF4-8019-4904-AC88-2DBADA6E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E96842F-9CEF-4537-8C91-ED8052A0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08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C56ADA7-4A1E-4D7F-82F5-F0D02A53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C｜个人难题：同时结算与删除崩溃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D132E28-9DA4-4E1F-950F-38EBD768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C · PERSONAL PROBLEM SOLVING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8BF552E-EAD2-48A9-BD54-3B8D8BDA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C154E28-FE7D-4FD8-AB85-FC70AC90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F422763-22B7-496E-B989-C1505623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2195488-6DBD-426F-A225-8C3DC7FE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13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580E9F4-1233-4F78-9A62-34D41A03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重点解决了同一次爆炸的结算冲突和容器删除崩溃。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6B52D80B-07B0-4EF8-AF39-A43E9B3B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AD936E3-486A-4B83-93C2-2391FC79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个人难题与解决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8FDD1E0-BF60-4FFD-B8B6-670E6962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B2D83B5-E60D-4BA6-8456-10628E4B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ExplodeBomb / UpdateBombsAndExplosions / 胜负标志判断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68C2996-C821-48F8-A7ED-D0B13058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93D8871-01E4-40BD-9169-115AED3C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关键难点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29FF1DF-183C-46F5-9157-E3DF6C75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同一次爆炸命中多人时出现过矛盾结果；遍历容器时删除元素会跳过对象或崩溃。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2439DFD-41A9-429D-8B6E-3886D0AD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1B73A29-FBBF-4E3E-A097-E2798A37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解决过程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BA3695D-356E-4194-8570-547B5D0E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每生成一格火焰就立即结算，胜负确定后返回；删除元素后调整遍历下标。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B1B90677-A97D-4D19-83D6-A3DFA576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4cf1488f044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843980"/>
            <a:ext cx="6667500" cy="3312914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B2D8EFE-39A0-43F8-B991-B12F97EA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安全遍历炸弹与火焰容器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C864546-C715-4674-8EAC-CDD7FC05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BubbleBattleView.cpp:770-790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C4203D0-6519-4F69-B6AC-BF87408D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结果：伤害顺序确定，游戏结束后只产生一个结果。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192492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E9F2DFF-7D67-4B6D-8931-83B9CAD2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2C03EF6-89F4-41A9-B1C0-E8D7846D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2ED5093-A6F2-4D18-A267-6C215071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7FE6F22-95D8-49A8-93EE-684D6DD4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08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C6A099D-8104-49DB-B47A-4AAE9CF6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C｜游戏主循环与交付验证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457314-88BF-4E77-BC5B-27AEFFCB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C · GAME LOOP AND VERIFICATION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6D33C38-3691-413B-9E61-A1EB18FF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04F7E57-E2A2-4D5E-99C3-AE15C6E0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F178F71-C5DF-4314-BCF4-1248DF18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C2AC0CF-7E3F-454E-A51A-085DE1FD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14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07A0243-BD7D-4678-9B02-CB376B39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爆炸范围、生命值和胜负提示经过双人与单人场景验证。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C5CA9C7C-4AFD-4622-A79A-D66B1D2A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E342B39-7328-4D1A-AB7F-F6BF4D99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工作与实现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01B450-1B9B-4723-8DF4-B432B509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F3C41C3-1231-46C7-BB97-50451413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主循环：输入 -&gt; AI -&gt; 炸弹与伤害 -&gt; 重绘 -&gt; 结束判断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805E8F6-B9E7-4E5E-B92C-119ADB24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292F311-6715-4AE9-BA30-98E3539E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实现重点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4212323-FB8A-4F0F-940D-F7896733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30 ms 定时器统一驱动敌人、炸弹、火焰和画面刷新。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FB060D5-CE05-4366-A2AC-19D62F08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ECE91B9-02C5-447E-B32B-825F58E1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交付结果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AB3459C-3C9E-4B27-896B-53BAFA28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战斗循环稳定，胜负确定后停止计时并返回菜单。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998BBA37-E3E9-457C-9C8E-302C2267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c317756ee4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286744"/>
            <a:ext cx="6667500" cy="2427387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751A547-3A93-4717-B2B3-2DE9C0A2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30 ms 定时器驱动游戏主循环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EAB0697-98BE-4D65-B27A-EA57B398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BubbleBattleView.cpp:793-834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1CF706A-4A10-4666-8D49-51AAF421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结果：战斗规则可复现，结算提示与最终胜负一致。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8340293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3F129D3-56E9-4E44-BFA1-9066BFCB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196F15B-88C8-4D21-9E60-651102EC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A7D8014-1186-497D-A918-A4A38C45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1EE1392-C6BB-4791-B43D-6EDA846B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09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A8B2079-7C28-4884-BD92-4EAF248A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D｜敌人逃跑 AI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217B7EB-02FC-4F6F-A9D9-4AEA43E5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D · ESCAPE AI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E413128-9C6D-4AD5-8A89-9C173BB4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90F3311-B37E-41CC-AA18-6C053401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970D532-C4F1-4040-8946-E3184DCB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487F6C2-BE08-4999-835B-F6CC8268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15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2D7B088-ACED-402C-9B3B-54681E6C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让敌人的行为更合理，也保证游戏画面稳定不闪烁。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D367293-01B6-4F88-912A-D89FDC3A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82433B5-DF24-495E-B1B6-C68F31B9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工作与实现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CD1B22-9602-4D47-BD08-69D8E20D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EFD8BA2-1AEA-4C43-B2E7-37A59A2B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UpdateEnemies / OnDraw / DrawTile / DrawEnemy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D1ADCA3-7A45-4064-A472-5C365966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8FB02AA-016C-476A-82E8-487F8C4E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实现重点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04299BB-C6F2-4D71-8B00-2FB3F06D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危险状态优先逃跑，否则随机移动；放弹前确认至少有一条退路。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5B03D04-040F-4AE2-BC98-18C7BA0E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364AD75-55E5-46E0-8525-38EEB24B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交付结果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6C5222D-6F1D-4083-86AB-7D219CF5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危险时逃向更远的安全格，放弹前检查退路；双缓冲整帧绘制后再输出。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E3DA6CE8-1895-456C-9BD3-677DD142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722e18c1241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3469" y="1571625"/>
            <a:ext cx="6396062" cy="3857625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3F34567-1B8F-47D8-8327-636A6489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三段式 AI：逃跑优先，其次随机移动，最后放弹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09E7D04-53B9-4F99-A3C1-AE5C2109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BubbleBattleView.cpp:599-655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0CF0D9E-97AD-4050-82A9-9C03E38F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结果：敌人不再轻易自杀，绘制顺序和遮挡关系稳定。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9351249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9B77CDF-7EDB-4821-A50E-F824849E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9EFEFF-19C5-4D85-9340-57693763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B043D66-DD76-4274-9CA5-12D5E7CC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AF3FBB3-5B3C-4165-92E0-7BB77DDA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09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0DBC11A-E673-4FC1-B7B3-3E269A1F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D｜敌人移动与放弹节奏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681DFCB-23A0-4C9A-90E2-38CD9BF4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D · ENEMY MOVEMENT AND BOMB TIMING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2B4261-98B7-46B1-AC8A-48E9903A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B14D0DA-053E-4553-B1CA-80420553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93A4F6A-B8C8-45E7-AB30-2A81CB49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E23265-083C-4D28-96D4-A5236DFB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16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A1D93E9-2A6C-4FF4-A3CE-B672ED36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敌人既要移动，也</a:t>
            </a: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会</a:t>
            </a: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放炸弹。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DC2F391A-E410-4B7B-92D2-97DF8855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DADCF8E-9B30-4BFF-A6D3-0D8F5710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工作与实现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DA86F7C-AE1E-4B1F-8B60-15EF3554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669883A-B442-4970-A372-17F8C633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UpdateEnemies / enemy.moveTimer / enemy.bombTimer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31992AF-0027-4939-A761-58209450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2530C1C-1950-4229-B020-D66C5AFC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实现重点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7A750ED-7ADE-4C57-AA9F-9A411555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移动和放弹使用独立计时器，分别控制移动频率和放弹冷却。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98FA058-A978-45EA-A515-8C2D467D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83DEB6E-AF89-4E4B-9CA1-4702EE28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交付结果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8C320FB-8D49-4166-9044-9F0CBE5F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随机移动前检查目标格；放弹使用随机冷却，并确认至少有一条退路。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7A51D49F-751C-4A5E-9AB1-82D38771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e4293c4d44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755428"/>
            <a:ext cx="6667500" cy="3490020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4CD0F75-BF8C-485A-94F7-57172C14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移动计时与放弹计时分开控制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72807AA-D5A2-4613-82E9-A213449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BubbleBattleView.cpp:657-716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C33BED9-EEC9-40C2-AAF1-BEFA6D81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结果：敌人移动更自然，放弹频率可控。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5756423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8FD0A5D-E34A-4372-A6F7-E2D03B55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0EDF606-78F4-431E-9830-562D99A8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861ECA0-E9E2-478F-88EB-6BD5FCDE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8031E1E-0050-4DA2-8AEB-B71A1A01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09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44F7BFD-C4B6-42FC-907E-C02E45F9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D｜个人难题：敌人自爆与画面闪烁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97DE1EB-356F-4F1C-A2B9-EE3994FB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D · PERSONAL PROBLEM SOLVING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A7BF6AC-583B-4350-9B95-477B33BD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62CAE0F-F095-496C-A8B4-7430ECB6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F8E029E-4546-423B-9119-20E32BA9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38D38EF-296C-42BA-869F-FC171163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17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78BD71C-1198-451D-870A-72583DF5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重点解决了敌人炸死自己和移动、爆炸时的画面闪烁。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8ECBA3A0-96E3-448F-B242-9A3CD1F8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D1951AB-8F50-43BF-BBE0-EF754DC1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个人难题与解决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EFE6AD2-37F4-4FAE-8B13-9A245657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546E8E4-F29A-4395-9F72-16A2220B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UpdateEnemies / OnDraw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AEF0311-F8B0-42F6-87C0-A5DD5A55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1D3F9FD-0115-4558-AB62-3C821A6B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关键难点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E7F4DBB-F83B-4B38-A362-297C9AE6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敌人会被自己刚放下的炸弹炸死；直接逐层绘制会出现闪烁和遮挡错误。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9C289DB-5F25-4F89-9166-0AF49EEE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CFDE2B2-58BD-46BB-BF0A-75688F2F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解决过程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8CCA464-B7BA-4704-95FD-601D1D69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危险时逃向更远的安全格，放弹前检查退路；整帧先在内存位图绘制，再一次性输出。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625100CF-1649-48AB-9E0D-700E9694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cc71e202941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109639"/>
            <a:ext cx="6667500" cy="2781598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C37DE0F-5C11-4DE1-AF4A-993D95A9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内存位图整帧绘制后一次输出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A8360BD-E776-4F92-AFF8-53A45FE5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BubbleBattleView.cpp:836-909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146F21C-72B8-4631-8D44-54C62B43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结果：敌人行为更合理，画面稳定，遮挡顺序明确。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6110493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1EC074F-ADA3-4865-A2A7-783985E4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BF5F476-3230-4530-83BB-9A101A63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BD1D10F-8C08-4FC7-8903-9A1DEED3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70D7A98-781B-408B-BD28-A84CBF21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09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2D7BA4A-2D45-4BC9-B991-FFCEADF5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D｜功能地图与效果验证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A3B6893-8A8F-4749-BAA1-58954295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D · FEATURE MAP AND VERIFICATION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B50111A-138E-482F-9AD1-D9ECB4A0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67EAAA5-5677-4221-AAD4-27BFB3A3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BD7A75F-D85C-4DB8-9BF1-6B4808D3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7FFFFD7-1985-4628-8459-EBA9D5C5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18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F1D3011-6D1E-496C-A651-3C21EA05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敌人行为和画面稳定性通过连续观察和多次对局验证。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A86FFE90-BE4A-4773-A270-7A430360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70181F2-7484-4EA4-A6C6-FA255877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工作与实现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AC42B6B-B2BA-48BE-9C93-7D2D06BD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C48C0CA-D8FC-4BA4-93F0-2E410096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功能映射：UpdateEnemies / OnDraw / DrawTile / DrawPlayer / DrawBomb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ECF35C0-960A-4750-B316-7950AD8D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EFA774A-140A-4566-91EE-032CCF71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实现重点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C04C2C0-635D-47F8-B469-ED691325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观察敌人在危险格、空地和角落中的行为，并检查移动和爆炸时的画面。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3201E11-94F4-436D-B4DB-90ECA2C2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0F5CBF9-E00C-4F40-8FED-30E2C110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交付结果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F5CE3B6-A066-4ACF-ADD8-8EF3FE2F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敌人不再轻易自爆，画面稳定，角色和爆炸的前后遮挡明确。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6FB5F709-E1A5-4084-BBE5-F4E3FF9A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c6bcabb9943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755428"/>
            <a:ext cx="6667500" cy="3490020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03AFF56-85F3-45AC-9B4F-A77C290C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炸弹与爆炸绘制函数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7A3AC06-7333-4DEC-8AF0-84276804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BubbleBattleView.cpp:1031-1079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DBA4611-69B9-4A77-9D4A-B3891EED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结果：AI 行为和绘制效果符合设计预期。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4679810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E4C4DBB-5FAC-48EB-9F79-5A1C408B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93C5543-0D62-4C97-B140-DC534B21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F630395-3983-4172-867A-8B1BB01D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E6BB385-3CDF-4865-B475-442510EF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10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E5705D5-23D0-495F-821C-BE47E3D2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E｜软件架构与设计坐标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D1FE6C8-8545-4C8A-BF27-41047737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E · ARCHITECTURE AND DESIGN COORDINATES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85EBB40-6C49-4686-A3AE-428CB709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CF833D5-D6EA-4556-814E-B60A6503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EA08D82-67BD-49E6-9277-FF5A080C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48D0D71-79FB-4040-BF18-204C5BA5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19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26CFD82-6C6F-46A7-8A87-9FE4B49D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负责工程框架、资源系统以及不同窗口尺寸下的坐标映射。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5A2BD4EF-EA86-4D6A-B3C4-3553DD7F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98A214-40EE-4BA4-8920-4808DDEB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工作与实现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F0A0B2-93C2-4C22-AEC5-DC3BD9D4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621AD44-E3E2-439C-86B9-324BF809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CreateDesignFont / SetDesignCoordinateSystem / ClientPointToDesignPoint / CGameHelpWindow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03B9C0E-CD97-48B4-9BB3-BAB7F37B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DF14C0A-E75E-4345-AF86-B5205B02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实现重点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50AF3F7-FBB5-4544-A637-FD569D88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页面按设计尺寸绘制，再按客户区比例等比缩放并居中。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34B1F77-AD64-423A-A16E-C075C8F9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0F92363-EC95-45BC-AA59-6A565463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交付结果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80C6261-322E-453C-B9DF-B9504ED7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按 96 DPI 固定折算字高；绘制与鼠标命中统一使用设计坐标。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2A672DA1-743C-4215-9D9C-882BE72E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609bdfb064d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109639"/>
            <a:ext cx="6667500" cy="2781598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CC2370F-63DB-45AD-B26B-ED4A199A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设计坐标映射：等比缩放并在客户区居中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8149261-7DA4-49D3-9494-34DE8F63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BubbleGameUIView.cpp:258-283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562DC85-9AFA-45D9-BA97-F17952A4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结果：资源按 ID 登记，窗口缩放后按钮仍能准确点击。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0671276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E2B607A-37F9-47E3-8439-F6E53CD8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466D188-6C78-4169-B4D6-88B3C2E0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7DD3F8-74D6-49C1-A988-1D06631C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AC7605D-22B3-4276-8092-AE8B05B2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10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126CC95-0DE8-4A0C-8C31-DC7B539A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E｜高 DPI 与鼠标命中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F1A3EC4-EE7A-42C4-B02F-A4D8F0A7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E · DPI SCALING AND MOUSE HIT TESTING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EAB1526-C96D-4FBF-9FDD-B60F4642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22CA327-A8D6-44CB-A038-D63EAC2B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1883C36-A875-4082-BF83-FC13E3E8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AEB9CB2-C56C-44EB-8EB7-89B7BD9D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20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225AB7F-8CD2-4AE6-A4DF-9210F781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字体和鼠标坐标必须与窗口缩放使用同一套规则。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264B7A44-1025-4E05-996B-16F922F7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EF875A7-4709-4348-8EDC-44696771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工作与实现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4BCA998-2AA8-4489-BD7F-8282A3A4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B2E8961-6CAA-42F4-86AE-068F4AEF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CreateDesignFont / GetHelpWindowScale / ClientPointToDesignPoint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EC4E0DE-BB3E-4B69-A0EE-3E03C2D8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F418596-A342-4F63-BCC4-1AAF2EBC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实现重点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4A8CDCB-97D1-4A08-875F-567E76D1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字体按 96 DPI 折算，鼠标坐标反算后进入同一设计坐标系。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65ED34-58D0-48F3-8238-345491C9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EA08A13-CD01-438F-9030-A20DFB38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交付结果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50F1539-E893-4932-97E3-AE93403B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按 96 DPI 折算字高；绘制使用设计坐标，鼠标位置再反向换算回设计坐标。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2D450B73-BB60-48A1-BBF5-13B02A81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1bd627a3541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198191"/>
            <a:ext cx="6667500" cy="2604492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F975F2F-C496-4B8C-83F0-8E10F62D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同时考虑系统 DPI 与窗口缩放比例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2A3CBA0-C227-420E-B184-123FFFA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BubbleGameUIView.cpp:228-256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384123D-AA6D-4A69-8DC6-222FF35F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结果：帮助窗口和主界面在不同缩放下保持一致。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6005095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12F2EE7-D742-439F-B0BC-66B61FB5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56D7357-E52B-4558-9FFE-6E954364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55DC217-DD21-4562-87DD-03649B6D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5C7C366-35E8-4E2A-90ED-CE1AADEB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10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B77B91-6C9C-401F-9FE2-A5DEB478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E｜个人难题：高 DPI 与点击错位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3FB22F-9DE0-4EA8-9923-FB5B6166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E · PERSONAL PROBLEM SOLVING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2E5F237-4751-42F1-B83C-0C118063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23C5419-A5F9-406D-8DE2-514D86F4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E8E7817-CC7A-479C-898A-15227495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E2DAD56-208F-431E-BA5B-0FDE0629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21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C74A24A-3DE2-449A-871F-587492AC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重点解决了高 DPI 字体放大和窗口缩放后的点击错位。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0F9CF55B-93D4-4529-932F-2ADAA328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DA72AA9-D291-4EC2-A061-A6CCAA1D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个人难题与解决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0C46460-7AB4-4998-BCCE-E6EF384D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567A9BB-ACB4-44B0-97AD-E118AB78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CreateDesignFont / GetHelpWindowScale / ClientPointToDesignPoint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DEDE7B7-7024-49F7-9FB2-4639AD70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4BA3BD8-8EC6-4E29-AD50-6CF68BAB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关键难点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31AEE2A-E6DF-4D84-85FF-3FFE3720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高 DPI 下字体被系统与窗口映射放大两次；按钮绘制使用缩放坐标，而鼠标消息仍是像素坐标。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B4330BA-FCEE-44D7-93D7-67B523DC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D7C6EEE-F56E-42E2-89F0-459D9E59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解决过程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727874C-9328-4F0B-9FEF-64E8788D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按 96 DPI 固定折算字高；绘制与点击统一使用设计坐标，并做反向换算。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57044F35-F60B-40AE-A48C-6A78BBBB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fa3225ff244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375297"/>
            <a:ext cx="6667500" cy="2250281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3B46832-3528-4930-8F73-C5772298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把鼠标像素坐标反算回设计坐标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B413606-6061-46B9-8D27-97ED6B86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BubbleGameUIView.cpp:285-304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35712E8-5F47-41F1-83ED-7813A321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结果：标题不再裁切，窗口缩放后按钮仍能准确点击。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982489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ACFD213-A463-4833-8073-3D3841D0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01C0443-138D-43DD-A8A3-C72293C9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80CA3AA-1F9D-401E-885F-883547AD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2F74E81-1345-47B5-A0E4-74C7B5AF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10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2A65702-434E-4135-8A8A-0BEF9628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E｜交付结果与验证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0EFB1C-F42B-49B7-8C9B-5662EDA6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E · DELIVERY AND VERIFICATION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D4240DA-6133-4981-942B-B9D3AF30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DD0C2D3-09DB-4292-BC48-7FDD5412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63F665B-9704-4D94-ADC7-31214583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57D4B4D-DF8A-497B-883A-541FFCEF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22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889E904-E930-45D7-B1F6-92275ED8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字体、缩放、按钮命中和资源加载在不同显示环境中验证。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49249290-1D03-4717-B2E3-E6C54CAC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917FA04-F54B-4E2B-A27A-F02C289C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工作与实现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EBC01F7-3021-47B0-BECB-3EDEF26E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03BA377-E07A-45C3-A358-D13F69E1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验证项：字体高度、帮助窗口、窗口缩放、按钮点击、位图加载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7C7BA4A-EEBF-4BA6-B81D-C3535EF4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53A49AB-B95E-4AA5-826E-26F1F661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实现重点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912AE4D-9F21-452A-8419-D83D6585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在多种窗口尺寸和显示缩放下检查标题、按钮和帮助窗口。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89AC1C8-1F8E-4FB8-A78F-4D4F6C1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D2E710F-F344-4F2B-B8DD-58A4EDAC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交付结果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7EBE6B9-A9BC-4522-8A07-BD794973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标题不再裁切，按钮命中准确，加载失败时可以定位资源编号。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1D8435E1-CF26-42D4-913B-992E8B97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6721f2b8a42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375297"/>
            <a:ext cx="6667500" cy="2250281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F646514-554E-4E2B-BA4F-1559E102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鼠标坐标反算并完成按钮命中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A2C8681-A7CE-4610-9FA7-2492F148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BubbleGameUIView.cpp:285-304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F2BC8CF-AD5F-4031-B088-E42345C6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结果：界面自适应和资源系统具备可验证、可定位的交付结果。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5443976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0BD6D42-343A-4F14-9635-868FDCFB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E396AEA-619F-4658-953F-0133A651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A148B43-2C11-49D9-B91B-CAF9C7A3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0821594-A951-42EB-8EFF-D5FBD600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11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A13FE15-DF92-41C1-9EDF-857AF660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A｜主框架与视图缓存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2969BA4-B385-4275-B4FF-0CEEBDFA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A · UI STATE AND INTEGRATION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07C467F-E1C8-4AF5-BD67-43CBF593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2C0ECD6-2CCE-4D4E-A122-DD1D242F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6C4E0F9-AD7B-44C2-B9ED-5BE9A63D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汇报人：成员 A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6CC53FD-99A1-4323-A0F9-537E6932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23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34D509C-8890-4ABC-9A47-BC8DD1CE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负责把四个页面、配置和游戏逻辑串成一个完整应用。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E8738401-968C-47B7-BFE5-1DE70ADF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7325A85-724C-4BCB-A326-AD05D604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工作与实现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FDA7FB5-2D12-44F4-98AE-56022235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7AEE4C8-51F0-4123-9FDB-AB1378B5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CBubbleGameUIView / CMainFrame / GameConfig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4ECD099-6778-4937-9EE0-DE06C259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C8FF8A2-9439-4A33-9297-E67E65BF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实现重点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DBE63BF-7D2A-41B1-8526-404629A8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统一主框架负责页面切换、视图缓存和配置传递。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968C732-64D1-4B98-A921-518EDFE0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6FE7821-5285-4966-AD3A-5CD4EF83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交付结果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11683D9-7DF0-4583-8C6A-F40311F6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缓存 m_pUIView 与 m_pGameView，只显示/隐藏；绘制与点击共用同一组矩形。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27B06946-D6D7-4B37-9794-751E13CB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518c38211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729508"/>
            <a:ext cx="6667500" cy="1541859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59B0A7F-CF64-487E-ADF9-1161F8D1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MFC 文档/视图架构与主框架入口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E5BC736-3DA0-44E6-9151-6411561A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MainFrm.cpp:100-176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FB6474D-F94B-4CF6-B7E0-F9DC169C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结果：页面来回切换时状态保留，</a:t>
            </a: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接口命名统一</a:t>
            </a: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2909453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BDFEDF9-4E55-4AB5-91E2-0C7A1E63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1940A30-0F31-4BA4-94ED-D87236D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84B5552-1108-46C0-8E81-3CE97A49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38B308-970C-4F4E-BE42-8FEE4E07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11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D3198C5-7E9B-4512-B96A-4518C426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A｜页面状态与鼠标路由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90380CB-5814-40AF-9460-27BD23E3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A · UI STATE MACHINE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ACDF76F-2470-4BF1-BE79-AC37C0B9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0DEEE4-5734-4D71-826F-C44892E4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74E6D69-73CC-4340-A147-ECD50393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6599965-1375-46C1-A0F4-9BACF073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24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32CBFF3-F67E-4354-92D8-F6A0943F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四个页面用同一个状态枚举切换，避免界面逻辑散落。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4FD2C4DB-E029-40EC-8BF9-DF91B1E1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A44653E-892D-488E-9B4D-3589CB9A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工作与实现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48CCCEC-2F70-4DFD-81FF-C5330F97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A74AB5A-E8C2-41DE-B4D9-2D6DB1B4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GameState / gameState / selectedMode / player1Character / player2Character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0819DB7-86D7-4D47-9B51-51DC26C2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DA278DB-D85D-4EE0-ADE6-8AED8569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实现重点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867516B-443D-47E0-A727-D716FE0D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用 enum class 管理四个页面状态，并通过 OnLButtonDown 分发事件。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7020418-C78F-4DE1-A0FB-327C12CF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8B29237-1019-4799-9A91-55C9D60F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交付结果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DA31225-D4AB-405F-945A-CDC900CC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使用 enum class GameState 保存当前页面；按钮矩形保存命中区域，点击按状态分发。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ED972621-96E2-40E7-9FCC-438E4984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c56dc11e34e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286744"/>
            <a:ext cx="6667500" cy="2427387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4142F4C-6EAF-4B34-8A0F-951139F5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页面状态集中在一个枚举中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408D476-DCC1-4370-90E8-88D814C0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BubbleGameUIView.h:47-60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5FFDD1E-A2A1-4855-9056-E9C688C2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结果：页面入口清晰，点击事件按状态流转。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8456171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503C90E-E0B9-4885-9D72-01870C41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FAC25D9-870F-426A-A923-EE62AC1A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60CE8D9-E4AA-48ED-8BDD-750F4147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49D661D-56E4-4C75-9AAC-BD01A9CF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11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B99DE07-7CE5-4DFF-A323-56F46580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A｜个人难题：状态丢失与资源冲突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B5DDE45-00D2-4A25-A994-B49DAF45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A · PERSONAL PROBLEM SOLVING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0F0061C-4091-4272-BFF3-15E7FA7F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5D81AF4-664E-45AD-972C-53CAF7A7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507E2B9-DA4D-41BB-B9E3-89C2E39A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546CC4E-BC83-4CC1-8C6B-F0E2F5D2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25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08779EB-C13F-4DB1-937D-82F62A97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重点解决了视图状态丢失和页面绘制代码重复的问题。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AB1A528-E670-4E07-98A4-F5DA9316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CEBDF25-0148-4B5E-AAA4-0CCCCFF1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个人难题与解决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7802431-0D10-4378-9297-4108C355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154D11F-9CE7-417C-86E1-E6FD3992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CMainFrame::SwitchToView / m_pUIView / m_pGameView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86C3BC-7F26-4E9E-AAD6-1BD9C722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C73EB51-D594-435A-B2FC-4E19068A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关键难点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E995D3B-1454-43ED-9DB6-DC0270BA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每次切换都重建视图会丢失界面状态；四个页面各写一套绘制代码，重复严重。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E3A2485-DFA4-4E2F-8EF0-8291BF37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61C0F2A-D252-4C17-91ED-EF6A1C59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解决过程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98C0827-6C16-412D-8F00-8A7F872C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缓存两个视图，只做显示和隐藏；抽出公共绘制函数，页面只负责算位置。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0BC06FB7-EAA4-43F7-8E28-61FE328D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2a38e4b2140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932533"/>
            <a:ext cx="6667500" cy="3135809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3A682B7-3841-437D-9B3D-A9EC6512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视图缓存与公共绘制组件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940B241-4D4B-4590-9D87-FB3DD5EA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MainFrm.cpp:100-176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24CDF13-2DF7-4477-9EA6-9EE44E67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结果：页面状态可以保留，页面绘制代码不再重复。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2545802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D8696C7-2CCC-4EA9-8DCA-B7DF2CFC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DEC7110-AB6A-45F6-8A0B-2488756F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B78F871-0893-4A67-9C5D-AA3BE282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1F613AF-B12A-48B6-809E-B24127E9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11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D92CB79-C04B-4575-8486-2DFE616E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成员 A｜交付结果与验证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B668D2D-7433-4FF7-9A20-4D66F911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MEMBER A · DELIVERY AND VERIFICATION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AE802E-5DDE-46CF-A126-78BA1A70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7D90AF8-B962-4C12-92A7-07CE0E63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38FCF1D-4001-4526-96BE-656A4EB3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3EDB0EE-5906-46E8-AE30-3C1756DE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26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61BE6F-8B86-40ED-B3AB-7B487241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主框架、资源编号和配置接口经过多次切换与合并验证。</a:t>
            </a:r>
            <a:endParaRPr sz="150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606828E0-21BE-4323-A549-FB244AD7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D0480F5-3720-435C-A12D-6DB0914A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工作与实现</a:t>
            </a:r>
            <a:endParaRPr sz="1275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A246A02-EC55-4394-9028-1E31B8CF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负责模块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A3E9E7F-F8CE-4F51-A91D-41015750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验证项：视图切换、状态保留、矩形命中、接口命名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5AFDC4E-E385-43CE-B8F8-51FDDE09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4B86F93-6EE5-4D07-A765-60742912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实现重点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515D056-E6AF-4E9E-9A4B-02B57A46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检查 UI 到 Game 再返回 UI 的多次切换，并确认按钮都能准确点中。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CDB1E72-6EFF-4A4D-B542-7E6CDD31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5A1B779-E974-4B47-9014-C21227C4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i="0">
                <a:solidFill>
                  <a:srgbClr val="55943A"/>
                </a:solidFill>
                <a:latin typeface="微软雅黑"/>
                <a:ea typeface="微软雅黑"/>
                <a:cs typeface="微软雅黑"/>
              </a:rPr>
              <a:t>交付结果</a:t>
            </a:r>
            <a:endParaRPr sz="975" b="1" i="0">
              <a:solidFill>
                <a:srgbClr val="5594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F4E93D2-CB25-4D86-A9C9-82456D17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页面状态稳定保留，按钮命中准确，两种编译配置均通过。</a:t>
            </a:r>
            <a:endParaRPr sz="1050" b="0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0D4715B2-00AF-475F-89DA-90ACB6B5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6819900" cy="4010025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E8EBE6"/>
          </a:solidFill>
          <a:ln xmlns:a="http://schemas.openxmlformats.org/drawingml/2006/main" w="0">
            <a:noFill/>
          </a:ln>
        </p:spPr>
      </p:sp>
      <p:pic>
        <p:nvPicPr>
          <p:cNvPr id="5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8bafa32bb47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463850"/>
            <a:ext cx="6667500" cy="2073176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A83454E-A195-40C6-98D2-FC3AFD55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配置交接代码作为接口验证点</a:t>
            </a:r>
            <a:endParaRPr sz="10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313F782-6DD7-4741-B2B8-398E4C55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BubbleGameUIView.cpp:1013-1024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BA9C004-E654-41D9-9AA8-874E435A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结果：整体串联稳定，后续成员可以独立替换自己的模块。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4879900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98F65981-707D-41B4-B9AA-458BE640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CC6FB0A-AE28-47E3-9D19-31FBE04E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02EAEF2-4CA1-450E-9756-E8590D9A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A7AD427-412D-408A-A635-54C52258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12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AABBF05-BA91-48A1-B17D-3844F034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D9122DB-A5B2-45B9-A85B-587332AC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ALGORITHMS, STATE, AND RENDERING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A37C5B5-BD58-4379-9D27-72DE85E2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DC582EB-6C40-4661-9FFA-0E891679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6C30E61-CA10-43BC-AF0D-D49BE8CF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B22CC22-7E3B-436E-9856-641F6792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27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30CDA215-4B82-4221-896A-674AC17B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5F78AC28-65DD-4125-94CF-65C2D2C1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 w="0">
            <a:noFill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CBBD50F-98C8-4B27-896A-95BE9EFC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rPr>
              <a:t>成员 B</a:t>
            </a:r>
            <a:endParaRPr sz="1050" b="1" i="0">
              <a:solidFill>
                <a:srgbClr val="3E6F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5976106-8BBB-4514-A49C-21333A92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BFS 连通性</a:t>
            </a:r>
            <a:endParaRPr sz="157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DB8BB33-E752-4A1D-91B5-E928F9A4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随机地图先保证可玩性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A500ACBA-8147-4C3D-9D75-274B913B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4305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DAAE3735-96B0-4CC6-982E-C7AA08AD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14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 w="0">
            <a:noFill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76C8999-7F3F-400A-BCEE-5EE4E7DD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14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rPr>
              <a:t>成员 B</a:t>
            </a:r>
            <a:endParaRPr sz="1050" b="1" i="0">
              <a:solidFill>
                <a:srgbClr val="3E6F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7170AA0-C176-4ADA-B1F3-8B922140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整格移动</a:t>
            </a:r>
            <a:endParaRPr sz="157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D7E9458-5D4B-42E4-B847-C2ADD561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908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五项碰撞检查降低卡位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4977CFDB-3079-4AE8-A64F-D5AF6B7F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4305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A6E58BC1-188A-4B2B-802A-849CD3A4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 w="0">
            <a:noFill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CD97125-E83F-42F5-B044-634481F8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rPr>
              <a:t>成员 C</a:t>
            </a:r>
            <a:endParaRPr sz="1050" b="1" i="0">
              <a:solidFill>
                <a:srgbClr val="3E6F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AE74F56-A9B4-4E5E-ABC5-4861C5B5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帧驱动战斗</a:t>
            </a:r>
            <a:endParaRPr sz="157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33B0443-9C41-4B30-8538-241541B9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908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30 ms 定时器统一节拍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4B09496E-BF9D-42DB-8E8F-F5B918C8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E5FFDB34-94B2-4AFA-ADF3-6293AD29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 w="0">
            <a:noFill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540509B-7CE6-4C66-AB02-CBBD6EDE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rPr>
              <a:t>成员 D</a:t>
            </a:r>
            <a:endParaRPr sz="1050" b="1" i="0">
              <a:solidFill>
                <a:srgbClr val="3E6F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39CA99F-69BD-45D9-8397-E8605E0A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三段式 AI</a:t>
            </a:r>
            <a:endParaRPr sz="157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86F58DB-8E7C-482B-BEF8-199AD154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逃跑、移动、放弹三个状态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C6871928-21A1-4657-B87D-C7E0BCA9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11D19112-3197-4CCE-A2A6-1347541D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100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 w="0">
            <a:noFill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CEACF60-6A90-4EF2-B901-AEA2696A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100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rPr>
              <a:t>成员 D</a:t>
            </a:r>
            <a:endParaRPr sz="1050" b="1" i="0">
              <a:solidFill>
                <a:srgbClr val="3E6F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C2B3384-0D28-4FAE-9750-7DC9BD4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双缓冲绘制</a:t>
            </a:r>
            <a:endParaRPr sz="157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1198AC5-0979-430E-A94A-FE9CC8D6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86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整帧内存绘制后一次输出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F186ED6B-0E8D-469E-98E1-CD2C6B1F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3855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21D0F321-13B7-4ADB-A018-B8F373A7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100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 w="0">
            <a:noFill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0D6E814-67F7-4249-AC24-F4C9F8C0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100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rPr>
              <a:t>成员 E</a:t>
            </a:r>
            <a:endParaRPr sz="1050" b="1" i="0">
              <a:solidFill>
                <a:srgbClr val="3E6F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BE70244E-567B-4710-AB19-2DD6C0C8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29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设计坐标</a:t>
            </a:r>
            <a:endParaRPr sz="157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F56165DE-0D06-4FED-B2B8-1EA679E4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86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绘制与点击共用一套映射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63AEC4D-145F-4129-8FC8-0E3C8E5C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这些技术点共同支撑了“可玩、稳定、可展示”的课程设计目标。</a:t>
            </a:r>
            <a:endParaRPr sz="120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605841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25C959F-75F1-4293-8CD0-03F21D64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FC5F907-F4A5-432F-BA8A-765A8E3A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430D38F-651E-4743-9DBA-CE0EF6EA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4C17C57-7D6D-400F-8728-9586D4AD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13</a:t>
            </a:r>
            <a:endParaRPr sz="1500" b="1" i="0">
              <a:solidFill>
                <a:srgbClr val="FFFF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BB8A77-A878-44C6-BE04-61E89688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整体改进与升级</a:t>
            </a:r>
            <a:endParaRPr sz="22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4079B57-6F86-4C82-9386-94E97334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i="0">
                <a:solidFill>
                  <a:srgbClr val="3F7430"/>
                </a:solidFill>
                <a:latin typeface="Cascadia Mono"/>
                <a:ea typeface="Cascadia Mono"/>
                <a:cs typeface="Cascadia Mono"/>
              </a:rPr>
              <a:t>OVERALL IMPROVEMENTS AND UPGRADES</a:t>
            </a:r>
            <a:endParaRPr sz="975" b="1" i="0">
              <a:solidFill>
                <a:srgbClr val="3F743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EED9E18-115A-45A7-BA7C-AD1DC03F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9C6BE14-4B2B-49D7-A2A5-4E944A85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4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AC79151-90DF-4A6A-B3B4-6BEC91EF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泡泡堂 BubbleBattle</a:t>
            </a:r>
            <a:endParaRPr sz="8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CC392A3-DA1D-40FE-848C-DB046FF8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 i="0">
                <a:solidFill>
                  <a:srgbClr val="687078"/>
                </a:solidFill>
                <a:latin typeface="Cascadia Mono"/>
                <a:ea typeface="Cascadia Mono"/>
                <a:cs typeface="Cascadia Mono"/>
              </a:rPr>
              <a:t>28</a:t>
            </a:r>
            <a:endParaRPr sz="825" b="0" i="0">
              <a:solidFill>
                <a:srgbClr val="687078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BBB6D5A2-9CEC-48D3-A167-21DC8D0B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47800"/>
            <a:ext cx="923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444F8B2-7E97-4A25-BC9B-A274AFC1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478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07A7D98-4108-41E6-8F92-BB65810E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71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玩法升级</a:t>
            </a:r>
            <a:endParaRPr sz="142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8852F58-FAC3-427E-80E8-B8C28218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097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增加道具、连锁爆炸和固定关卡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B4A844F7-D741-4F60-B7DF-2A300578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24100"/>
            <a:ext cx="923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3341F1-6CFE-47A3-8F59-BD1884D9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241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599F724-2E04-4440-9696-6AEEC0C6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47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AI 升级</a:t>
            </a:r>
            <a:endParaRPr sz="142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F3CA6CE-972C-4355-8AA7-13853305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860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加入寻路算法和不同难度等级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B6622CC0-6AC0-4037-B057-9C74330C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00400"/>
            <a:ext cx="923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F53AB40-9B32-4697-B2A4-4661DA91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004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F091FC2-107E-4DFB-8C63-AA962E06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242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体验升级</a:t>
            </a:r>
            <a:endParaRPr sz="142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1FE6276-B8F2-488D-8A6E-6581D4FE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623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补充背景音乐、音效、暂停和设置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1D66E2E5-856D-4FD0-BF62-DA9126A7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76700"/>
            <a:ext cx="923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363D438-F1E2-4FB8-AB7A-F60B1977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767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E8F4DC6-62E1-4B16-9601-A530DED0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00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工程升级</a:t>
            </a:r>
            <a:endParaRPr sz="142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609C68A-808F-4744-A806-73019F94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386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增加存档、异常提示和资源管理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4BC01CA3-666E-40C6-A225-3B44A3A3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923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4"/>
            </a:solidFill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630CA57-34C8-432B-A17C-1CC501C4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EB94D81-16F3-4D50-82C6-41A26EFD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768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展示升级</a:t>
            </a:r>
            <a:endParaRPr sz="1425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FD5366C-A358-43A3-8176-BCF6E9FE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149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完善关卡选择、排行榜和结算反馈</a:t>
            </a:r>
            <a:endParaRPr sz="1125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649668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0d8a7c4c140b7"/>
          <a:srcRect xmlns:a="http://schemas.openxmlformats.org/drawingml/2006/main" l="0" t="34180" r="0" b="34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15CE0E8-5E99-4D9B-A449-77944402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A2E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2D5A28A-9275-4E3F-B9D7-345CC36A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5875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43A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5E8A520-0309-448E-9FA3-743ED02F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defRPr>
            </a:pPr>
            <a:r>
              <a:rPr sz="3750" b="1" i="0">
                <a:solidFill>
                  <a:srgbClr val="25282C"/>
                </a:solidFill>
                <a:latin typeface="微软雅黑"/>
                <a:ea typeface="微软雅黑"/>
                <a:cs typeface="微软雅黑"/>
              </a:rPr>
              <a:t>感谢聆听</a:t>
            </a:r>
            <a:endParaRPr sz="3750" b="1" i="0">
              <a:solidFill>
                <a:srgbClr val="2528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140FEC0-5DF1-47F7-BF92-7E51DA12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 i="0">
                <a:solidFill>
                  <a:srgbClr val="687078"/>
                </a:solidFill>
                <a:latin typeface="微软雅黑"/>
                <a:ea typeface="微软雅黑"/>
                <a:cs typeface="微软雅黑"/>
              </a:rPr>
              <a:t>以上是从整体角度提出的改进与升级方向，欢迎各位老师提问。</a:t>
            </a:r>
            <a:endParaRPr sz="1650" b="0" i="0">
              <a:solidFill>
                <a:srgbClr val="6870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E225FBBB-B6B9-45C1-A0BA-B97763BC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1ECDC"/>
          </a:solidFill>
          <a:ln xmlns:a="http://schemas.openxmlformats.org/drawingml/2006/main" w="0">
            <a:noFill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E905408-0711-4D7C-94A5-1CDC7E27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F7430"/>
                </a:solidFill>
                <a:latin typeface="微软雅黑"/>
                <a:ea typeface="微软雅黑"/>
                <a:cs typeface="微软雅黑"/>
              </a:rPr>
              <a:t>五人协作</a:t>
            </a:r>
            <a:endParaRPr sz="1050" b="1" i="0">
              <a:solidFill>
                <a:srgbClr val="3F7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3B85605-E9EE-41F7-B4B8-65F9718C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62375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6E27BFA-5304-4008-9331-134152B9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62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3E6FA6"/>
                </a:solidFill>
                <a:latin typeface="微软雅黑"/>
                <a:ea typeface="微软雅黑"/>
                <a:cs typeface="微软雅黑"/>
              </a:rPr>
              <a:t>代码可追溯</a:t>
            </a:r>
            <a:endParaRPr sz="1050" b="1" i="0">
              <a:solidFill>
                <a:srgbClr val="3E6F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FD72B4F3-5A58-4F19-B535-892013D5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62375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AD7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6CCAA7-525C-4776-9F0D-CC0CB7D4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62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B47A24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i="0">
                <a:solidFill>
                  <a:srgbClr val="B47A24"/>
                </a:solidFill>
                <a:latin typeface="微软雅黑"/>
                <a:ea typeface="微软雅黑"/>
                <a:cs typeface="微软雅黑"/>
              </a:rPr>
              <a:t>现场可演示</a:t>
            </a:r>
            <a:endParaRPr sz="1050" b="1" i="0">
              <a:solidFill>
                <a:srgbClr val="B47A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171480B-74F1-4340-AB5D-E8756282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感谢聆听！</a:t>
            </a:r>
            <a:endParaRPr sz="16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0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d47618f9b4a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96250" y="2000250"/>
            <a:ext cx="1524000" cy="1524000"/>
          </a:xfrm>
          <a:prstGeom xmlns:a="http://schemas.openxmlformats.org/drawingml/2006/main" prst="rect">
            <a:avLst/>
          </a:prstGeom>
        </p:spPr>
      </p:pic>
      <p:pic>
        <p:nvPicPr>
          <p:cNvPr id="31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5480754d84f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810750" y="1905000"/>
            <a:ext cx="1619250" cy="1619250"/>
          </a:xfrm>
          <a:prstGeom xmlns:a="http://schemas.openxmlformats.org/drawingml/2006/main" prst="rect">
            <a:avLst/>
          </a:prstGeom>
        </p:spPr>
      </p:pic>
      <p:pic>
        <p:nvPicPr>
          <p:cNvPr id="32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8571f7eca4e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96250" y="3571875"/>
            <a:ext cx="1524000" cy="1524000"/>
          </a:xfrm>
          <a:prstGeom xmlns:a="http://schemas.openxmlformats.org/drawingml/2006/main" prst="rect">
            <a:avLst/>
          </a:prstGeom>
        </p:spPr>
      </p:pic>
      <p:pic>
        <p:nvPicPr>
          <p:cNvPr id="33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37a3e6b5442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810750" y="3476625"/>
            <a:ext cx="1619250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248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2026-09-15T09:08:09.8210000Z</dcterms:created>
  <dcterms:modified xsi:type="dcterms:W3CDTF">2026-09-15T09:08:09.8210000Z</dcterms:modified>
</coreProperties>
</file>